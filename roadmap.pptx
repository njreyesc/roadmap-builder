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28600" y="228600"/>
            <a:ext cx="73152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1800" b="1">
                <a:solidFill>
                  <a:srgbClr val="333333"/>
                </a:solidFill>
              </a:rPr>
              <a:t>Roadmap: подключение агентов (финальный тест режима B)</a:t>
            </a:r>
          </a:p>
        </p:txBody>
      </p:sp>
      <p:sp>
        <p:nvSpPr>
          <p:cNvPr id="3" name="Rectangle 2"/>
          <p:cNvSpPr/>
          <p:nvPr/>
        </p:nvSpPr>
        <p:spPr>
          <a:xfrm>
            <a:off x="7543800" y="228600"/>
            <a:ext cx="4419295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r"/>
            <a:r>
              <a:rPr sz="1000" b="0">
                <a:solidFill>
                  <a:srgbClr val="4472C4"/>
                </a:solidFill>
              </a:rPr>
              <a:t>оценки фаз в чд, капасити как пропускная способность спринта</a:t>
            </a:r>
          </a:p>
        </p:txBody>
      </p:sp>
      <p:sp>
        <p:nvSpPr>
          <p:cNvPr id="4" name="Rectangle 3"/>
          <p:cNvSpPr/>
          <p:nvPr/>
        </p:nvSpPr>
        <p:spPr>
          <a:xfrm>
            <a:off x="3886200" y="685800"/>
            <a:ext cx="835539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Июль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721739" y="685800"/>
            <a:ext cx="1392565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Август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6114304" y="685800"/>
            <a:ext cx="1114052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Сентябрь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8356" y="685800"/>
            <a:ext cx="1114052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Октябрь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8342408" y="685800"/>
            <a:ext cx="1392565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Ноябрь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9734973" y="685800"/>
            <a:ext cx="1114052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Декабрь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849025" y="685800"/>
            <a:ext cx="1114052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Январь 2027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86200" y="941832"/>
            <a:ext cx="278513" cy="219456"/>
          </a:xfrm>
          <a:prstGeom prst="rect">
            <a:avLst/>
          </a:prstGeom>
          <a:solidFill>
            <a:srgbClr val="2E7D3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13-19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64713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20-26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43226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27-02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21739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03-09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252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10-16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78765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17-23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57278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24-30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35791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31-06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14304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07-13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92817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14-20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71330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21-27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49843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28-04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8356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05-11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06869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12-18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85382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19-25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63895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26-01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42408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02-08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20921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09-15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899434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16-22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77947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23-29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56460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30-06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734973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07-13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13486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14-20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291999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21-27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570512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28-03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849025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04-10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127538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11-17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06051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18-24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684564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25-31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886200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164713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4443226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4721739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000252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278765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557278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5835791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114304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392817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671330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6949843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7228356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506869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785382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063895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8342408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8620921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8899434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9177947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9456460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9734973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013486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291999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0570512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0849025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11127538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1406051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1684564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1963077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28600" y="1161288"/>
            <a:ext cx="1173447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0"/>
          <p:cNvSpPr/>
          <p:nvPr/>
        </p:nvSpPr>
        <p:spPr>
          <a:xfrm>
            <a:off x="2148840" y="116128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906200" y="1207008"/>
            <a:ext cx="1074052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4 нед, 20 чд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228600" y="1472184"/>
            <a:ext cx="1173447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/>
          <p:cNvSpPr/>
          <p:nvPr/>
        </p:nvSpPr>
        <p:spPr>
          <a:xfrm>
            <a:off x="2148840" y="147218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Разработка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020252" y="1517904"/>
            <a:ext cx="79553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3 нед, 30 чд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228600" y="1783080"/>
            <a:ext cx="1173447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tangle 76"/>
          <p:cNvSpPr/>
          <p:nvPr/>
        </p:nvSpPr>
        <p:spPr>
          <a:xfrm>
            <a:off x="2148840" y="178308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855791" y="1828800"/>
            <a:ext cx="1631078" cy="219456"/>
          </a:xfrm>
          <a:prstGeom prst="roundRect">
            <a:avLst/>
          </a:prstGeom>
          <a:solidFill>
            <a:srgbClr val="E2D1F0"/>
          </a:solidFill>
          <a:ln w="9525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6 нед, 40 чд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228600" y="2093976"/>
            <a:ext cx="1173447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ectangle 79"/>
          <p:cNvSpPr/>
          <p:nvPr/>
        </p:nvSpPr>
        <p:spPr>
          <a:xfrm>
            <a:off x="2148840" y="209397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691330" y="2139696"/>
            <a:ext cx="517026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248356" y="2093976"/>
            <a:ext cx="107405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2 нед, 10 чд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228600" y="2404872"/>
            <a:ext cx="1173447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ctangle 83"/>
          <p:cNvSpPr/>
          <p:nvPr/>
        </p:nvSpPr>
        <p:spPr>
          <a:xfrm>
            <a:off x="2148840" y="240487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Разработка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248356" y="2450592"/>
            <a:ext cx="238513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526869" y="2404872"/>
            <a:ext cx="107405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1 нед, 10 чд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228600" y="2715768"/>
            <a:ext cx="1173447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ectangle 87"/>
          <p:cNvSpPr/>
          <p:nvPr/>
        </p:nvSpPr>
        <p:spPr>
          <a:xfrm>
            <a:off x="2148840" y="271576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526869" y="2761488"/>
            <a:ext cx="1074052" cy="219456"/>
          </a:xfrm>
          <a:prstGeom prst="roundRect">
            <a:avLst/>
          </a:prstGeom>
          <a:solidFill>
            <a:srgbClr val="E2D1F0"/>
          </a:solidFill>
          <a:ln w="9525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4 нед, 30 чд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228600" y="3026664"/>
            <a:ext cx="1173447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ectangle 90"/>
          <p:cNvSpPr/>
          <p:nvPr/>
        </p:nvSpPr>
        <p:spPr>
          <a:xfrm>
            <a:off x="2148840" y="302666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7248356" y="3072384"/>
            <a:ext cx="1074052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4 нед, 20 чд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228600" y="3337560"/>
            <a:ext cx="1173447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ectangle 93"/>
          <p:cNvSpPr/>
          <p:nvPr/>
        </p:nvSpPr>
        <p:spPr>
          <a:xfrm>
            <a:off x="2148840" y="333756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Разработка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8362408" y="3383280"/>
            <a:ext cx="79553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3 нед, 30 чд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228600" y="3648456"/>
            <a:ext cx="1173447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Rectangle 96"/>
          <p:cNvSpPr/>
          <p:nvPr/>
        </p:nvSpPr>
        <p:spPr>
          <a:xfrm>
            <a:off x="2148840" y="364845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9197947" y="3694176"/>
            <a:ext cx="1631078" cy="219456"/>
          </a:xfrm>
          <a:prstGeom prst="roundRect">
            <a:avLst/>
          </a:prstGeom>
          <a:solidFill>
            <a:srgbClr val="E2D1F0"/>
          </a:solidFill>
          <a:ln w="9525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6 нед, 40 чд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228600" y="3959352"/>
            <a:ext cx="1173447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ectangle 99"/>
          <p:cNvSpPr/>
          <p:nvPr/>
        </p:nvSpPr>
        <p:spPr>
          <a:xfrm>
            <a:off x="2148840" y="395935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0033486" y="4005072"/>
            <a:ext cx="517026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90512" y="3959352"/>
            <a:ext cx="107405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2 нед, 10 чд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228600" y="4270248"/>
            <a:ext cx="1173447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ectangle 103"/>
          <p:cNvSpPr/>
          <p:nvPr/>
        </p:nvSpPr>
        <p:spPr>
          <a:xfrm>
            <a:off x="2148840" y="427024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Разработка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0590512" y="4315968"/>
            <a:ext cx="238513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869025" y="4270248"/>
            <a:ext cx="107405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1 нед, 10 чд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228600" y="4581144"/>
            <a:ext cx="1173447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2148840" y="458114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10869025" y="4626864"/>
            <a:ext cx="1074052" cy="219456"/>
          </a:xfrm>
          <a:prstGeom prst="roundRect">
            <a:avLst/>
          </a:prstGeom>
          <a:solidFill>
            <a:srgbClr val="E2D1F0"/>
          </a:solidFill>
          <a:ln w="9525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4 нед, 30 чд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228600" y="1161288"/>
            <a:ext cx="1920240" cy="93268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Подключение агента хронологии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28600" y="2093976"/>
            <a:ext cx="1920240" cy="93268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Подключение ESG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28600" y="3026664"/>
            <a:ext cx="1920240" cy="93268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Подключение агента историчность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228600" y="3959352"/>
            <a:ext cx="1920240" cy="93268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Подключение АЕФ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3886200" y="1161288"/>
            <a:ext cx="0" cy="932688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Pentagon 114"/>
          <p:cNvSpPr/>
          <p:nvPr/>
        </p:nvSpPr>
        <p:spPr>
          <a:xfrm>
            <a:off x="3886200" y="1161288"/>
            <a:ext cx="146304" cy="137160"/>
          </a:xfrm>
          <a:prstGeom prst="homePlate">
            <a:avLst/>
          </a:prstGeom>
          <a:solidFill>
            <a:srgbClr val="4472C4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7506869" y="1161288"/>
            <a:ext cx="0" cy="932688"/>
          </a:xfrm>
          <a:prstGeom prst="line">
            <a:avLst/>
          </a:prstGeom>
          <a:ln w="19050">
            <a:solidFill>
              <a:srgbClr val="7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Pentagon 116"/>
          <p:cNvSpPr/>
          <p:nvPr/>
        </p:nvSpPr>
        <p:spPr>
          <a:xfrm rot="10800000">
            <a:off x="7360565" y="1161288"/>
            <a:ext cx="146304" cy="137160"/>
          </a:xfrm>
          <a:prstGeom prst="homePlate">
            <a:avLst/>
          </a:prstGeom>
          <a:solidFill>
            <a:srgbClr val="C00000"/>
          </a:solidFill>
          <a:ln w="12700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>
            <a:off x="6671330" y="2093976"/>
            <a:ext cx="0" cy="932688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Pentagon 118"/>
          <p:cNvSpPr/>
          <p:nvPr/>
        </p:nvSpPr>
        <p:spPr>
          <a:xfrm>
            <a:off x="6671330" y="2093976"/>
            <a:ext cx="146304" cy="137160"/>
          </a:xfrm>
          <a:prstGeom prst="homePlate">
            <a:avLst/>
          </a:prstGeom>
          <a:solidFill>
            <a:srgbClr val="4472C4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120" name="Connector 119"/>
          <p:cNvCxnSpPr/>
          <p:nvPr/>
        </p:nvCxnSpPr>
        <p:spPr>
          <a:xfrm>
            <a:off x="8620921" y="2093976"/>
            <a:ext cx="0" cy="932688"/>
          </a:xfrm>
          <a:prstGeom prst="line">
            <a:avLst/>
          </a:prstGeom>
          <a:ln w="19050">
            <a:solidFill>
              <a:srgbClr val="7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Pentagon 120"/>
          <p:cNvSpPr/>
          <p:nvPr/>
        </p:nvSpPr>
        <p:spPr>
          <a:xfrm rot="10800000">
            <a:off x="8474617" y="2093976"/>
            <a:ext cx="146304" cy="137160"/>
          </a:xfrm>
          <a:prstGeom prst="homePlate">
            <a:avLst/>
          </a:prstGeom>
          <a:solidFill>
            <a:srgbClr val="C00000"/>
          </a:solidFill>
          <a:ln w="12700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122" name="Connector 121"/>
          <p:cNvCxnSpPr/>
          <p:nvPr/>
        </p:nvCxnSpPr>
        <p:spPr>
          <a:xfrm>
            <a:off x="7228356" y="3026664"/>
            <a:ext cx="0" cy="932688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Pentagon 122"/>
          <p:cNvSpPr/>
          <p:nvPr/>
        </p:nvSpPr>
        <p:spPr>
          <a:xfrm>
            <a:off x="7228356" y="3026664"/>
            <a:ext cx="146304" cy="137160"/>
          </a:xfrm>
          <a:prstGeom prst="homePlate">
            <a:avLst/>
          </a:prstGeom>
          <a:solidFill>
            <a:srgbClr val="4472C4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>
            <a:off x="10849025" y="3026664"/>
            <a:ext cx="0" cy="932688"/>
          </a:xfrm>
          <a:prstGeom prst="line">
            <a:avLst/>
          </a:prstGeom>
          <a:ln w="19050">
            <a:solidFill>
              <a:srgbClr val="7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Pentagon 124"/>
          <p:cNvSpPr/>
          <p:nvPr/>
        </p:nvSpPr>
        <p:spPr>
          <a:xfrm rot="10800000">
            <a:off x="10702721" y="3026664"/>
            <a:ext cx="146304" cy="137160"/>
          </a:xfrm>
          <a:prstGeom prst="homePlate">
            <a:avLst/>
          </a:prstGeom>
          <a:solidFill>
            <a:srgbClr val="C00000"/>
          </a:solidFill>
          <a:ln w="12700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126" name="Connector 125"/>
          <p:cNvCxnSpPr/>
          <p:nvPr/>
        </p:nvCxnSpPr>
        <p:spPr>
          <a:xfrm>
            <a:off x="10013486" y="3959352"/>
            <a:ext cx="0" cy="932688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Pentagon 126"/>
          <p:cNvSpPr/>
          <p:nvPr/>
        </p:nvSpPr>
        <p:spPr>
          <a:xfrm>
            <a:off x="10013486" y="3959352"/>
            <a:ext cx="146304" cy="137160"/>
          </a:xfrm>
          <a:prstGeom prst="homePlate">
            <a:avLst/>
          </a:prstGeom>
          <a:solidFill>
            <a:srgbClr val="4472C4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128" name="Connector 127"/>
          <p:cNvCxnSpPr/>
          <p:nvPr/>
        </p:nvCxnSpPr>
        <p:spPr>
          <a:xfrm>
            <a:off x="11963077" y="3959352"/>
            <a:ext cx="0" cy="932688"/>
          </a:xfrm>
          <a:prstGeom prst="line">
            <a:avLst/>
          </a:prstGeom>
          <a:ln w="19050">
            <a:solidFill>
              <a:srgbClr val="7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Pentagon 128"/>
          <p:cNvSpPr/>
          <p:nvPr/>
        </p:nvSpPr>
        <p:spPr>
          <a:xfrm rot="10800000">
            <a:off x="11816773" y="3959352"/>
            <a:ext cx="146304" cy="137160"/>
          </a:xfrm>
          <a:prstGeom prst="homePlate">
            <a:avLst/>
          </a:prstGeom>
          <a:solidFill>
            <a:srgbClr val="C00000"/>
          </a:solidFill>
          <a:ln w="12700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>
            <a:off x="4025456" y="1161288"/>
            <a:ext cx="0" cy="3730752"/>
          </a:xfrm>
          <a:prstGeom prst="line">
            <a:avLst/>
          </a:prstGeom>
          <a:ln w="22225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3886200" y="685800"/>
            <a:ext cx="0" cy="4206240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Rectangle 131"/>
          <p:cNvSpPr/>
          <p:nvPr/>
        </p:nvSpPr>
        <p:spPr>
          <a:xfrm>
            <a:off x="3886200" y="685800"/>
            <a:ext cx="566928" cy="256032"/>
          </a:xfrm>
          <a:prstGeom prst="rect">
            <a:avLst/>
          </a:prstGeom>
          <a:solidFill>
            <a:srgbClr val="4472C4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1">
                <a:solidFill>
                  <a:srgbClr val="FFFFFF"/>
                </a:solidFill>
              </a:rPr>
              <a:t>⚑ Старт</a:t>
            </a:r>
          </a:p>
        </p:txBody>
      </p:sp>
      <p:cxnSp>
        <p:nvCxnSpPr>
          <p:cNvPr id="133" name="Connector 132"/>
          <p:cNvCxnSpPr/>
          <p:nvPr/>
        </p:nvCxnSpPr>
        <p:spPr>
          <a:xfrm>
            <a:off x="11963077" y="685800"/>
            <a:ext cx="0" cy="4206240"/>
          </a:xfrm>
          <a:prstGeom prst="line">
            <a:avLst/>
          </a:prstGeom>
          <a:ln w="19050">
            <a:solidFill>
              <a:srgbClr val="7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Rectangle 133"/>
          <p:cNvSpPr/>
          <p:nvPr/>
        </p:nvSpPr>
        <p:spPr>
          <a:xfrm>
            <a:off x="11396149" y="685800"/>
            <a:ext cx="566928" cy="256032"/>
          </a:xfrm>
          <a:prstGeom prst="rect">
            <a:avLst/>
          </a:prstGeom>
          <a:solidFill>
            <a:srgbClr val="C00000"/>
          </a:solidFill>
          <a:ln w="952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r"/>
            <a:r>
              <a:rPr sz="800" b="1">
                <a:solidFill>
                  <a:srgbClr val="FFFFFF"/>
                </a:solidFill>
              </a:rPr>
              <a:t>Финиш ⚑</a:t>
            </a:r>
          </a:p>
        </p:txBody>
      </p:sp>
      <p:sp>
        <p:nvSpPr>
          <p:cNvPr id="135" name="Diamond 134"/>
          <p:cNvSpPr/>
          <p:nvPr/>
        </p:nvSpPr>
        <p:spPr>
          <a:xfrm>
            <a:off x="228600" y="5042916"/>
            <a:ext cx="118872" cy="118872"/>
          </a:xfrm>
          <a:prstGeom prst="diamond">
            <a:avLst/>
          </a:prstGeom>
          <a:solidFill>
            <a:srgbClr val="4CAF50"/>
          </a:solidFill>
          <a:ln w="127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374904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выполнено</a:t>
            </a:r>
          </a:p>
        </p:txBody>
      </p:sp>
      <p:sp>
        <p:nvSpPr>
          <p:cNvPr id="137" name="Diamond 136"/>
          <p:cNvSpPr/>
          <p:nvPr/>
        </p:nvSpPr>
        <p:spPr>
          <a:xfrm>
            <a:off x="1280160" y="5042916"/>
            <a:ext cx="118872" cy="118872"/>
          </a:xfrm>
          <a:prstGeom prst="diamond">
            <a:avLst/>
          </a:prstGeom>
          <a:solidFill>
            <a:srgbClr val="FFFFFF"/>
          </a:solidFill>
          <a:ln w="127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1426464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план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2331720" y="5042916"/>
            <a:ext cx="219456" cy="118872"/>
          </a:xfrm>
          <a:prstGeom prst="roundRect">
            <a:avLst/>
          </a:prstGeom>
          <a:solidFill>
            <a:srgbClr val="F5A623"/>
          </a:solidFill>
          <a:ln w="12700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2578608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работы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3483864" y="5042916"/>
            <a:ext cx="219456" cy="118872"/>
          </a:xfrm>
          <a:prstGeom prst="roundRect">
            <a:avLst/>
          </a:prstGeom>
          <a:solidFill>
            <a:srgbClr val="BDD7EE"/>
          </a:solidFill>
          <a:ln w="1270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3730752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4636008" y="5042916"/>
            <a:ext cx="219456" cy="118872"/>
          </a:xfrm>
          <a:prstGeom prst="roundRect">
            <a:avLst/>
          </a:prstGeom>
          <a:solidFill>
            <a:srgbClr val="E2D1F0"/>
          </a:solidFill>
          <a:ln w="12700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4882896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5788152" y="5042916"/>
            <a:ext cx="219456" cy="118872"/>
          </a:xfrm>
          <a:prstGeom prst="roundRect">
            <a:avLst/>
          </a:prstGeom>
          <a:solidFill>
            <a:srgbClr val="FBEAB6"/>
          </a:solidFill>
          <a:ln w="12700">
            <a:solidFill>
              <a:srgbClr val="E0C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6035040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оценка т/з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6940296" y="5042916"/>
            <a:ext cx="219456" cy="118872"/>
          </a:xfrm>
          <a:prstGeom prst="roundRect">
            <a:avLst/>
          </a:prstGeom>
          <a:solidFill>
            <a:srgbClr val="FFF176"/>
          </a:solidFill>
          <a:ln w="12700">
            <a:solidFill>
              <a:srgbClr val="D4C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7187184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отпуск</a:t>
            </a:r>
          </a:p>
        </p:txBody>
      </p:sp>
      <p:sp>
        <p:nvSpPr>
          <p:cNvPr id="149" name="Pentagon 148"/>
          <p:cNvSpPr/>
          <p:nvPr/>
        </p:nvSpPr>
        <p:spPr>
          <a:xfrm>
            <a:off x="8092440" y="5042916"/>
            <a:ext cx="219456" cy="118872"/>
          </a:xfrm>
          <a:prstGeom prst="homePlate">
            <a:avLst/>
          </a:prstGeom>
          <a:solidFill>
            <a:srgbClr val="4472C4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8339328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старт</a:t>
            </a:r>
          </a:p>
        </p:txBody>
      </p:sp>
      <p:sp>
        <p:nvSpPr>
          <p:cNvPr id="151" name="Pentagon 150"/>
          <p:cNvSpPr/>
          <p:nvPr/>
        </p:nvSpPr>
        <p:spPr>
          <a:xfrm>
            <a:off x="9244584" y="5042916"/>
            <a:ext cx="219456" cy="118872"/>
          </a:xfrm>
          <a:prstGeom prst="homePlate">
            <a:avLst/>
          </a:prstGeom>
          <a:solidFill>
            <a:srgbClr val="C00000"/>
          </a:solidFill>
          <a:ln w="12700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9491472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финиш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