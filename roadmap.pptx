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28600"/>
            <a:ext cx="7315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1800" b="1">
                <a:solidFill>
                  <a:srgbClr val="333333"/>
                </a:solidFill>
              </a:rPr>
              <a:t>Roadmap: подключение агентов (финальный тест режима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7543800" y="228600"/>
            <a:ext cx="4419295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1000" b="0">
                <a:solidFill>
                  <a:srgbClr val="4472C4"/>
                </a:solidFill>
              </a:rPr>
              <a:t>оценки фаз в чд, капасити как пропускная способность спринта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3886200" y="685800"/>
            <a:ext cx="835539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Июль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1739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Август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6114304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Сентябрь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8356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Октябрь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2408" y="685800"/>
            <a:ext cx="1392565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Ноябрь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734973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Декабрь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849025" y="685800"/>
            <a:ext cx="1114052" cy="256032"/>
          </a:xfrm>
          <a:prstGeom prst="rect">
            <a:avLst/>
          </a:prstGeom>
          <a:solidFill>
            <a:srgbClr val="8080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1000" b="1">
                <a:solidFill>
                  <a:srgbClr val="FFFFFF"/>
                </a:solidFill>
              </a:rPr>
              <a:t>Январь 2027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6200" y="941832"/>
            <a:ext cx="278513" cy="219456"/>
          </a:xfrm>
          <a:prstGeom prst="rect">
            <a:avLst/>
          </a:prstGeom>
          <a:solidFill>
            <a:srgbClr val="2E7D3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1">
                <a:solidFill>
                  <a:srgbClr val="FFFFFF"/>
                </a:solidFill>
              </a:rPr>
              <a:t>13-19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471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20-26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322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27-02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2173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03-09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25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10-16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7876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17-23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5727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24-30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3579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31-06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430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9281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133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84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835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05-11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0686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12-18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8538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19-25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389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26-01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4240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02-08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2092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09-15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9943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16-22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77947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23-29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6460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30-06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734973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07-13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3486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14-20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91999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21-27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70512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28-03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49025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04-10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127538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11-17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06051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18-24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684564" y="941832"/>
            <a:ext cx="278513" cy="219456"/>
          </a:xfrm>
          <a:prstGeom prst="rect">
            <a:avLst/>
          </a:prstGeom>
          <a:solidFill>
            <a:srgbClr val="D9D9D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00" b="0">
                <a:solidFill>
                  <a:srgbClr val="333333"/>
                </a:solidFill>
              </a:rPr>
              <a:t>25-31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88620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16471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44322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2173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00025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27876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55727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83579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11430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39281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67133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694984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22835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50686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8538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6389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34240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62092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89943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17794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9456460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9734973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0013486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91999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570512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849025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127538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406051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684564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11963077" y="1161288"/>
            <a:ext cx="0" cy="3730752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228600" y="116128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148840" y="116128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06200" y="1207008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228600" y="147218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2148840" y="147218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020252" y="1517904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28600" y="178308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2148840" y="178308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855791" y="1828800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228600" y="209397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/>
          <p:cNvSpPr/>
          <p:nvPr/>
        </p:nvSpPr>
        <p:spPr>
          <a:xfrm>
            <a:off x="2148840" y="209397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691330" y="2139696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248356" y="2093976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228600" y="240487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2148840" y="240487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248356" y="2450592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526869" y="240487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228600" y="271576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ectangle 87"/>
          <p:cNvSpPr/>
          <p:nvPr/>
        </p:nvSpPr>
        <p:spPr>
          <a:xfrm>
            <a:off x="2148840" y="271576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526869" y="2761488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28600" y="302666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2148840" y="302666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248356" y="3072384"/>
            <a:ext cx="1074052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20 чд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28600" y="3337560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2148840" y="3337560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362408" y="3383280"/>
            <a:ext cx="795539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3 нед, 30 чд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228600" y="3648456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96"/>
          <p:cNvSpPr/>
          <p:nvPr/>
        </p:nvSpPr>
        <p:spPr>
          <a:xfrm>
            <a:off x="2148840" y="3648456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197947" y="3694176"/>
            <a:ext cx="1631078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6 нед, 40 чд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228600" y="3959352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/>
          <p:cNvSpPr/>
          <p:nvPr/>
        </p:nvSpPr>
        <p:spPr>
          <a:xfrm>
            <a:off x="2148840" y="3959352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033486" y="4005072"/>
            <a:ext cx="517026" cy="219456"/>
          </a:xfrm>
          <a:prstGeom prst="roundRect">
            <a:avLst/>
          </a:prstGeom>
          <a:solidFill>
            <a:srgbClr val="BDD7EE"/>
          </a:solidFill>
          <a:ln w="9525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90512" y="3959352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2 нед, 10 чд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28600" y="4270248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2148840" y="4270248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Разработка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590512" y="4315968"/>
            <a:ext cx="238513" cy="219456"/>
          </a:xfrm>
          <a:prstGeom prst="roundRect">
            <a:avLst/>
          </a:prstGeom>
          <a:solidFill>
            <a:srgbClr val="F5A623"/>
          </a:solidFill>
          <a:ln w="9525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869025" y="4270248"/>
            <a:ext cx="10740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1 нед, 10 чд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228600" y="4581144"/>
            <a:ext cx="11734477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2148840" y="4581144"/>
            <a:ext cx="173736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10869025" y="4626864"/>
            <a:ext cx="1074052" cy="219456"/>
          </a:xfrm>
          <a:prstGeom prst="roundRect">
            <a:avLst/>
          </a:prstGeom>
          <a:solidFill>
            <a:srgbClr val="E2D1F0"/>
          </a:solidFill>
          <a:ln w="9525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  <a:r>
              <a:rPr sz="850" b="0">
                <a:solidFill>
                  <a:srgbClr val="333333"/>
                </a:solidFill>
              </a:rPr>
              <a:t>4 нед, 30 чд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1161288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хронологии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28600" y="2093976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ESG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28600" y="3026664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агента историчность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28600" y="3959352"/>
            <a:ext cx="1920240" cy="932688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900" b="1">
                <a:solidFill>
                  <a:srgbClr val="333333"/>
                </a:solidFill>
              </a:rPr>
              <a:t>Подключение АЕФ</a:t>
            </a:r>
          </a:p>
        </p:txBody>
      </p:sp>
      <p:sp>
        <p:nvSpPr>
          <p:cNvPr id="114" name="Diamond 113"/>
          <p:cNvSpPr/>
          <p:nvPr/>
        </p:nvSpPr>
        <p:spPr>
          <a:xfrm>
            <a:off x="3813048" y="1243584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5" name="Diamond 114"/>
          <p:cNvSpPr/>
          <p:nvPr/>
        </p:nvSpPr>
        <p:spPr>
          <a:xfrm>
            <a:off x="7433717" y="1243584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6" name="Diamond 115"/>
          <p:cNvSpPr/>
          <p:nvPr/>
        </p:nvSpPr>
        <p:spPr>
          <a:xfrm>
            <a:off x="6598178" y="2176272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7" name="Diamond 116"/>
          <p:cNvSpPr/>
          <p:nvPr/>
        </p:nvSpPr>
        <p:spPr>
          <a:xfrm>
            <a:off x="8547769" y="2176272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8" name="Diamond 117"/>
          <p:cNvSpPr/>
          <p:nvPr/>
        </p:nvSpPr>
        <p:spPr>
          <a:xfrm>
            <a:off x="7155204" y="3108960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19" name="Diamond 118"/>
          <p:cNvSpPr/>
          <p:nvPr/>
        </p:nvSpPr>
        <p:spPr>
          <a:xfrm>
            <a:off x="10775873" y="3108960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0" name="Diamond 119"/>
          <p:cNvSpPr/>
          <p:nvPr/>
        </p:nvSpPr>
        <p:spPr>
          <a:xfrm>
            <a:off x="9940334" y="4041648"/>
            <a:ext cx="146304" cy="146304"/>
          </a:xfrm>
          <a:prstGeom prst="diamond">
            <a:avLst/>
          </a:prstGeom>
          <a:solidFill>
            <a:srgbClr val="4472C4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1" name="Diamond 120"/>
          <p:cNvSpPr/>
          <p:nvPr/>
        </p:nvSpPr>
        <p:spPr>
          <a:xfrm>
            <a:off x="11889925" y="4041648"/>
            <a:ext cx="146304" cy="146304"/>
          </a:xfrm>
          <a:prstGeom prst="diamond">
            <a:avLst/>
          </a:prstGeom>
          <a:solidFill>
            <a:srgbClr val="C00000"/>
          </a:solidFill>
          <a:ln w="1587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4025456" y="1161288"/>
            <a:ext cx="0" cy="3730752"/>
          </a:xfrm>
          <a:prstGeom prst="line">
            <a:avLst/>
          </a:prstGeom>
          <a:ln w="22225">
            <a:solidFill>
              <a:srgbClr val="2E7D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3886200" y="685800"/>
            <a:ext cx="0" cy="4206240"/>
          </a:xfrm>
          <a:prstGeom prst="line">
            <a:avLst/>
          </a:prstGeom>
          <a:ln w="190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ctangle 123"/>
          <p:cNvSpPr/>
          <p:nvPr/>
        </p:nvSpPr>
        <p:spPr>
          <a:xfrm>
            <a:off x="3886200" y="685800"/>
            <a:ext cx="566928" cy="256032"/>
          </a:xfrm>
          <a:prstGeom prst="rect">
            <a:avLst/>
          </a:prstGeom>
          <a:solidFill>
            <a:srgbClr val="4472C4"/>
          </a:solidFill>
          <a:ln w="952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1">
                <a:solidFill>
                  <a:srgbClr val="FFFFFF"/>
                </a:solidFill>
              </a:rPr>
              <a:t>⚑ Старт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1963077" y="685800"/>
            <a:ext cx="0" cy="4206240"/>
          </a:xfrm>
          <a:prstGeom prst="line">
            <a:avLst/>
          </a:prstGeom>
          <a:ln w="19050">
            <a:solidFill>
              <a:srgbClr val="7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11396149" y="685800"/>
            <a:ext cx="566928" cy="256032"/>
          </a:xfrm>
          <a:prstGeom prst="rect">
            <a:avLst/>
          </a:prstGeom>
          <a:solidFill>
            <a:srgbClr val="C00000"/>
          </a:solidFill>
          <a:ln w="9525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r"/>
            <a:r>
              <a:rPr sz="800" b="1">
                <a:solidFill>
                  <a:srgbClr val="FFFFFF"/>
                </a:solidFill>
              </a:rPr>
              <a:t>Финиш ⚑</a:t>
            </a:r>
          </a:p>
        </p:txBody>
      </p:sp>
      <p:sp>
        <p:nvSpPr>
          <p:cNvPr id="127" name="Diamond 126"/>
          <p:cNvSpPr/>
          <p:nvPr/>
        </p:nvSpPr>
        <p:spPr>
          <a:xfrm>
            <a:off x="228600" y="5042916"/>
            <a:ext cx="118872" cy="118872"/>
          </a:xfrm>
          <a:prstGeom prst="diamond">
            <a:avLst/>
          </a:prstGeom>
          <a:solidFill>
            <a:srgbClr val="4CAF50"/>
          </a:solidFill>
          <a:ln w="127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7490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выполнено</a:t>
            </a:r>
          </a:p>
        </p:txBody>
      </p:sp>
      <p:sp>
        <p:nvSpPr>
          <p:cNvPr id="129" name="Diamond 128"/>
          <p:cNvSpPr/>
          <p:nvPr/>
        </p:nvSpPr>
        <p:spPr>
          <a:xfrm>
            <a:off x="1280160" y="5042916"/>
            <a:ext cx="118872" cy="118872"/>
          </a:xfrm>
          <a:prstGeom prst="diamond">
            <a:avLst/>
          </a:prstGeom>
          <a:solidFill>
            <a:srgbClr val="FFFFFF"/>
          </a:solidFill>
          <a:ln w="127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42646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план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331720" y="5042916"/>
            <a:ext cx="219456" cy="118872"/>
          </a:xfrm>
          <a:prstGeom prst="roundRect">
            <a:avLst/>
          </a:prstGeom>
          <a:solidFill>
            <a:srgbClr val="F5A623"/>
          </a:solidFill>
          <a:ln w="12700">
            <a:solidFill>
              <a:srgbClr val="C77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57860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работы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3483864" y="5042916"/>
            <a:ext cx="219456" cy="118872"/>
          </a:xfrm>
          <a:prstGeom prst="roundRect">
            <a:avLst/>
          </a:prstGeom>
          <a:solidFill>
            <a:srgbClr val="BDD7EE"/>
          </a:solidFill>
          <a:ln w="12700">
            <a:solidFill>
              <a:srgbClr val="5B9B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73075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аналитика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4636008" y="5042916"/>
            <a:ext cx="219456" cy="118872"/>
          </a:xfrm>
          <a:prstGeom prst="roundRect">
            <a:avLst/>
          </a:prstGeom>
          <a:solidFill>
            <a:srgbClr val="E2D1F0"/>
          </a:solidFill>
          <a:ln w="12700">
            <a:solidFill>
              <a:srgbClr val="9B7F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882896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тестирование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5788152" y="5042916"/>
            <a:ext cx="219456" cy="118872"/>
          </a:xfrm>
          <a:prstGeom prst="roundRect">
            <a:avLst/>
          </a:prstGeom>
          <a:solidFill>
            <a:srgbClr val="FBEAB6"/>
          </a:solidFill>
          <a:ln w="12700">
            <a:solidFill>
              <a:srgbClr val="E0C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6035040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оценка т/з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940296" y="5042916"/>
            <a:ext cx="219456" cy="118872"/>
          </a:xfrm>
          <a:prstGeom prst="roundRect">
            <a:avLst/>
          </a:prstGeom>
          <a:solidFill>
            <a:srgbClr val="FFF176"/>
          </a:solidFill>
          <a:ln w="12700">
            <a:solidFill>
              <a:srgbClr val="D4C2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187184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отпуск</a:t>
            </a:r>
          </a:p>
        </p:txBody>
      </p:sp>
      <p:sp>
        <p:nvSpPr>
          <p:cNvPr id="141" name="Pentagon 140"/>
          <p:cNvSpPr/>
          <p:nvPr/>
        </p:nvSpPr>
        <p:spPr>
          <a:xfrm>
            <a:off x="8092440" y="5042916"/>
            <a:ext cx="219456" cy="118872"/>
          </a:xfrm>
          <a:prstGeom prst="homePlate">
            <a:avLst/>
          </a:prstGeom>
          <a:solidFill>
            <a:srgbClr val="4472C4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339328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старт</a:t>
            </a:r>
          </a:p>
        </p:txBody>
      </p:sp>
      <p:sp>
        <p:nvSpPr>
          <p:cNvPr id="143" name="Pentagon 142"/>
          <p:cNvSpPr/>
          <p:nvPr/>
        </p:nvSpPr>
        <p:spPr>
          <a:xfrm>
            <a:off x="9244584" y="5042916"/>
            <a:ext cx="219456" cy="118872"/>
          </a:xfrm>
          <a:prstGeom prst="homePlate">
            <a:avLst/>
          </a:prstGeom>
          <a:solidFill>
            <a:srgbClr val="C00000"/>
          </a:solidFill>
          <a:ln w="12700">
            <a:solidFill>
              <a:srgbClr val="7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491472" y="5001768"/>
            <a:ext cx="868680" cy="2011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9000" bIns="9000"/>
          <a:lstStyle/>
          <a:p>
            <a:pPr algn="l"/>
            <a:r>
              <a:rPr sz="800" b="0">
                <a:solidFill>
                  <a:srgbClr val="333333"/>
                </a:solidFill>
              </a:rPr>
              <a:t>финиш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