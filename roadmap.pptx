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28600"/>
            <a:ext cx="731520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1800" b="1">
                <a:solidFill>
                  <a:srgbClr val="333333"/>
                </a:solidFill>
              </a:rPr>
              <a:t>Roadmap: подключение агентов (финальный тест режима B)</a:t>
            </a:r>
          </a:p>
        </p:txBody>
      </p:sp>
      <p:sp>
        <p:nvSpPr>
          <p:cNvPr id="3" name="Rectangle 2"/>
          <p:cNvSpPr/>
          <p:nvPr/>
        </p:nvSpPr>
        <p:spPr>
          <a:xfrm>
            <a:off x="7543800" y="228600"/>
            <a:ext cx="4419295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r"/>
            <a:r>
              <a:rPr sz="1000" b="0">
                <a:solidFill>
                  <a:srgbClr val="4472C4"/>
                </a:solidFill>
              </a:rPr>
              <a:t>оценки фаз в чд, капасити как пропускная способность спринта</a:t>
            </a:r>
          </a:p>
        </p:txBody>
      </p:sp>
      <p:sp>
        <p:nvSpPr>
          <p:cNvPr id="4" name="Rectangle 3"/>
          <p:cNvSpPr/>
          <p:nvPr/>
        </p:nvSpPr>
        <p:spPr>
          <a:xfrm>
            <a:off x="3886200" y="685800"/>
            <a:ext cx="835539" cy="256032"/>
          </a:xfrm>
          <a:prstGeom prst="rect">
            <a:avLst/>
          </a:prstGeom>
          <a:solidFill>
            <a:srgbClr val="80808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Июль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721739" y="685800"/>
            <a:ext cx="1392565" cy="256032"/>
          </a:xfrm>
          <a:prstGeom prst="rect">
            <a:avLst/>
          </a:prstGeom>
          <a:solidFill>
            <a:srgbClr val="80808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Август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6114304" y="685800"/>
            <a:ext cx="1114052" cy="256032"/>
          </a:xfrm>
          <a:prstGeom prst="rect">
            <a:avLst/>
          </a:prstGeom>
          <a:solidFill>
            <a:srgbClr val="80808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Сентябрь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7228356" y="685800"/>
            <a:ext cx="1114052" cy="256032"/>
          </a:xfrm>
          <a:prstGeom prst="rect">
            <a:avLst/>
          </a:prstGeom>
          <a:solidFill>
            <a:srgbClr val="80808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Октябрь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8342408" y="685800"/>
            <a:ext cx="1392565" cy="256032"/>
          </a:xfrm>
          <a:prstGeom prst="rect">
            <a:avLst/>
          </a:prstGeom>
          <a:solidFill>
            <a:srgbClr val="80808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Ноябрь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9734973" y="685800"/>
            <a:ext cx="1114052" cy="256032"/>
          </a:xfrm>
          <a:prstGeom prst="rect">
            <a:avLst/>
          </a:prstGeom>
          <a:solidFill>
            <a:srgbClr val="80808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Декабрь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849025" y="685800"/>
            <a:ext cx="1114052" cy="256032"/>
          </a:xfrm>
          <a:prstGeom prst="rect">
            <a:avLst/>
          </a:prstGeom>
          <a:solidFill>
            <a:srgbClr val="80808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Январь 2027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86200" y="941832"/>
            <a:ext cx="278513" cy="219456"/>
          </a:xfrm>
          <a:prstGeom prst="rect">
            <a:avLst/>
          </a:prstGeom>
          <a:solidFill>
            <a:srgbClr val="2E7D3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1">
                <a:solidFill>
                  <a:srgbClr val="FFFFFF"/>
                </a:solidFill>
              </a:rPr>
              <a:t>13-19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4713" y="941832"/>
            <a:ext cx="278513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20-26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43226" y="941832"/>
            <a:ext cx="278513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27-02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21739" y="941832"/>
            <a:ext cx="278513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03-09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252" y="941832"/>
            <a:ext cx="278513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10-16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78765" y="941832"/>
            <a:ext cx="278513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17-23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57278" y="941832"/>
            <a:ext cx="278513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24-30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35791" y="941832"/>
            <a:ext cx="278513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31-06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14304" y="941832"/>
            <a:ext cx="278513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07-13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92817" y="941832"/>
            <a:ext cx="278513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14-20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71330" y="941832"/>
            <a:ext cx="278513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21-27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49843" y="941832"/>
            <a:ext cx="278513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28-04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28356" y="941832"/>
            <a:ext cx="278513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05-11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06869" y="941832"/>
            <a:ext cx="278513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12-18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85382" y="941832"/>
            <a:ext cx="278513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19-25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63895" y="941832"/>
            <a:ext cx="278513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26-01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42408" y="941832"/>
            <a:ext cx="278513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02-08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20921" y="941832"/>
            <a:ext cx="278513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09-15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99434" y="941832"/>
            <a:ext cx="278513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16-22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77947" y="941832"/>
            <a:ext cx="278513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23-29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456460" y="941832"/>
            <a:ext cx="278513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30-06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734973" y="941832"/>
            <a:ext cx="278513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07-13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13486" y="941832"/>
            <a:ext cx="278513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14-20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291999" y="941832"/>
            <a:ext cx="278513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21-27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570512" y="941832"/>
            <a:ext cx="278513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28-03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849025" y="941832"/>
            <a:ext cx="278513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04-10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127538" y="941832"/>
            <a:ext cx="278513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11-17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406051" y="941832"/>
            <a:ext cx="278513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18-24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684564" y="941832"/>
            <a:ext cx="278513" cy="219456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00" b="0">
                <a:solidFill>
                  <a:srgbClr val="333333"/>
                </a:solidFill>
              </a:rPr>
              <a:t>25-31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3886200" y="1161288"/>
            <a:ext cx="0" cy="3730752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164713" y="1161288"/>
            <a:ext cx="0" cy="3730752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443226" y="1161288"/>
            <a:ext cx="0" cy="3730752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721739" y="1161288"/>
            <a:ext cx="0" cy="3730752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5000252" y="1161288"/>
            <a:ext cx="0" cy="3730752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5278765" y="1161288"/>
            <a:ext cx="0" cy="3730752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5557278" y="1161288"/>
            <a:ext cx="0" cy="3730752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5835791" y="1161288"/>
            <a:ext cx="0" cy="3730752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6114304" y="1161288"/>
            <a:ext cx="0" cy="3730752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6392817" y="1161288"/>
            <a:ext cx="0" cy="3730752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6671330" y="1161288"/>
            <a:ext cx="0" cy="3730752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6949843" y="1161288"/>
            <a:ext cx="0" cy="3730752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7228356" y="1161288"/>
            <a:ext cx="0" cy="3730752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506869" y="1161288"/>
            <a:ext cx="0" cy="3730752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785382" y="1161288"/>
            <a:ext cx="0" cy="3730752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8063895" y="1161288"/>
            <a:ext cx="0" cy="3730752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8342408" y="1161288"/>
            <a:ext cx="0" cy="3730752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8620921" y="1161288"/>
            <a:ext cx="0" cy="3730752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8899434" y="1161288"/>
            <a:ext cx="0" cy="3730752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9177947" y="1161288"/>
            <a:ext cx="0" cy="3730752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9456460" y="1161288"/>
            <a:ext cx="0" cy="3730752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9734973" y="1161288"/>
            <a:ext cx="0" cy="3730752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013486" y="1161288"/>
            <a:ext cx="0" cy="3730752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0291999" y="1161288"/>
            <a:ext cx="0" cy="3730752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0570512" y="1161288"/>
            <a:ext cx="0" cy="3730752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0849025" y="1161288"/>
            <a:ext cx="0" cy="3730752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1127538" y="1161288"/>
            <a:ext cx="0" cy="3730752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11406051" y="1161288"/>
            <a:ext cx="0" cy="3730752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11684564" y="1161288"/>
            <a:ext cx="0" cy="3730752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11963077" y="1161288"/>
            <a:ext cx="0" cy="3730752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228600" y="1161288"/>
            <a:ext cx="11734477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ectangle 70"/>
          <p:cNvSpPr/>
          <p:nvPr/>
        </p:nvSpPr>
        <p:spPr>
          <a:xfrm>
            <a:off x="2148840" y="1161288"/>
            <a:ext cx="17373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Аналитика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906200" y="1207008"/>
            <a:ext cx="1074052" cy="219456"/>
          </a:xfrm>
          <a:prstGeom prst="roundRect">
            <a:avLst/>
          </a:prstGeom>
          <a:solidFill>
            <a:srgbClr val="BDD7EE"/>
          </a:solidFill>
          <a:ln w="952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50" b="0">
                <a:solidFill>
                  <a:srgbClr val="333333"/>
                </a:solidFill>
              </a:rPr>
              <a:t>4 нед, 20 чд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228600" y="1472184"/>
            <a:ext cx="11734477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ectangle 73"/>
          <p:cNvSpPr/>
          <p:nvPr/>
        </p:nvSpPr>
        <p:spPr>
          <a:xfrm>
            <a:off x="2148840" y="1472184"/>
            <a:ext cx="17373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Разработка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020252" y="1517904"/>
            <a:ext cx="795539" cy="219456"/>
          </a:xfrm>
          <a:prstGeom prst="roundRect">
            <a:avLst/>
          </a:prstGeom>
          <a:solidFill>
            <a:srgbClr val="F5A623"/>
          </a:solidFill>
          <a:ln w="9525">
            <a:solidFill>
              <a:srgbClr val="C77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50" b="0">
                <a:solidFill>
                  <a:srgbClr val="333333"/>
                </a:solidFill>
              </a:rPr>
              <a:t>3 нед, 30 чд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228600" y="1783080"/>
            <a:ext cx="11734477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ectangle 76"/>
          <p:cNvSpPr/>
          <p:nvPr/>
        </p:nvSpPr>
        <p:spPr>
          <a:xfrm>
            <a:off x="2148840" y="1783080"/>
            <a:ext cx="17373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Тестирование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855791" y="1828800"/>
            <a:ext cx="1631078" cy="219456"/>
          </a:xfrm>
          <a:prstGeom prst="roundRect">
            <a:avLst/>
          </a:prstGeom>
          <a:solidFill>
            <a:srgbClr val="E2D1F0"/>
          </a:solidFill>
          <a:ln w="9525">
            <a:solidFill>
              <a:srgbClr val="9B7F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50" b="0">
                <a:solidFill>
                  <a:srgbClr val="333333"/>
                </a:solidFill>
              </a:rPr>
              <a:t>6 нед, 40 чд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228600" y="2093976"/>
            <a:ext cx="11734477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ectangle 79"/>
          <p:cNvSpPr/>
          <p:nvPr/>
        </p:nvSpPr>
        <p:spPr>
          <a:xfrm>
            <a:off x="2148840" y="2093976"/>
            <a:ext cx="17373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Аналитика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691330" y="2139696"/>
            <a:ext cx="517026" cy="219456"/>
          </a:xfrm>
          <a:prstGeom prst="roundRect">
            <a:avLst/>
          </a:prstGeom>
          <a:solidFill>
            <a:srgbClr val="BDD7EE"/>
          </a:solidFill>
          <a:ln w="952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248356" y="2093976"/>
            <a:ext cx="107405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2 нед, 10 чд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228600" y="2404872"/>
            <a:ext cx="11734477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ectangle 83"/>
          <p:cNvSpPr/>
          <p:nvPr/>
        </p:nvSpPr>
        <p:spPr>
          <a:xfrm>
            <a:off x="2148840" y="2404872"/>
            <a:ext cx="17373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Разработка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248356" y="2450592"/>
            <a:ext cx="238513" cy="219456"/>
          </a:xfrm>
          <a:prstGeom prst="roundRect">
            <a:avLst/>
          </a:prstGeom>
          <a:solidFill>
            <a:srgbClr val="F5A623"/>
          </a:solidFill>
          <a:ln w="9525">
            <a:solidFill>
              <a:srgbClr val="C77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526869" y="2404872"/>
            <a:ext cx="107405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1 нед, 10 чд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228600" y="2715768"/>
            <a:ext cx="11734477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Rectangle 87"/>
          <p:cNvSpPr/>
          <p:nvPr/>
        </p:nvSpPr>
        <p:spPr>
          <a:xfrm>
            <a:off x="2148840" y="2715768"/>
            <a:ext cx="17373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Тестирование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7526869" y="2761488"/>
            <a:ext cx="1074052" cy="219456"/>
          </a:xfrm>
          <a:prstGeom prst="roundRect">
            <a:avLst/>
          </a:prstGeom>
          <a:solidFill>
            <a:srgbClr val="E2D1F0"/>
          </a:solidFill>
          <a:ln w="9525">
            <a:solidFill>
              <a:srgbClr val="9B7F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50" b="0">
                <a:solidFill>
                  <a:srgbClr val="333333"/>
                </a:solidFill>
              </a:rPr>
              <a:t>4 нед, 30 чд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228600" y="3026664"/>
            <a:ext cx="11734477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Rectangle 90"/>
          <p:cNvSpPr/>
          <p:nvPr/>
        </p:nvSpPr>
        <p:spPr>
          <a:xfrm>
            <a:off x="2148840" y="3026664"/>
            <a:ext cx="17373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Аналитика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7248356" y="3072384"/>
            <a:ext cx="1074052" cy="219456"/>
          </a:xfrm>
          <a:prstGeom prst="roundRect">
            <a:avLst/>
          </a:prstGeom>
          <a:solidFill>
            <a:srgbClr val="BDD7EE"/>
          </a:solidFill>
          <a:ln w="952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50" b="0">
                <a:solidFill>
                  <a:srgbClr val="333333"/>
                </a:solidFill>
              </a:rPr>
              <a:t>4 нед, 20 чд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228600" y="3337560"/>
            <a:ext cx="11734477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Rectangle 93"/>
          <p:cNvSpPr/>
          <p:nvPr/>
        </p:nvSpPr>
        <p:spPr>
          <a:xfrm>
            <a:off x="2148840" y="3337560"/>
            <a:ext cx="17373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Разработка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8362408" y="3383280"/>
            <a:ext cx="795539" cy="219456"/>
          </a:xfrm>
          <a:prstGeom prst="roundRect">
            <a:avLst/>
          </a:prstGeom>
          <a:solidFill>
            <a:srgbClr val="F5A623"/>
          </a:solidFill>
          <a:ln w="9525">
            <a:solidFill>
              <a:srgbClr val="C77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50" b="0">
                <a:solidFill>
                  <a:srgbClr val="333333"/>
                </a:solidFill>
              </a:rPr>
              <a:t>3 нед, 30 чд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228600" y="3648456"/>
            <a:ext cx="11734477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Rectangle 96"/>
          <p:cNvSpPr/>
          <p:nvPr/>
        </p:nvSpPr>
        <p:spPr>
          <a:xfrm>
            <a:off x="2148840" y="3648456"/>
            <a:ext cx="17373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Тестирование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9197947" y="3694176"/>
            <a:ext cx="1631078" cy="219456"/>
          </a:xfrm>
          <a:prstGeom prst="roundRect">
            <a:avLst/>
          </a:prstGeom>
          <a:solidFill>
            <a:srgbClr val="E2D1F0"/>
          </a:solidFill>
          <a:ln w="9525">
            <a:solidFill>
              <a:srgbClr val="9B7F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50" b="0">
                <a:solidFill>
                  <a:srgbClr val="333333"/>
                </a:solidFill>
              </a:rPr>
              <a:t>6 нед, 40 чд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228600" y="3959352"/>
            <a:ext cx="11734477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Rectangle 99"/>
          <p:cNvSpPr/>
          <p:nvPr/>
        </p:nvSpPr>
        <p:spPr>
          <a:xfrm>
            <a:off x="2148840" y="3959352"/>
            <a:ext cx="17373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Аналитика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10033486" y="4005072"/>
            <a:ext cx="517026" cy="219456"/>
          </a:xfrm>
          <a:prstGeom prst="roundRect">
            <a:avLst/>
          </a:prstGeom>
          <a:solidFill>
            <a:srgbClr val="BDD7EE"/>
          </a:solidFill>
          <a:ln w="952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0590512" y="3959352"/>
            <a:ext cx="107405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2 нед, 10 чд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228600" y="4270248"/>
            <a:ext cx="11734477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Rectangle 103"/>
          <p:cNvSpPr/>
          <p:nvPr/>
        </p:nvSpPr>
        <p:spPr>
          <a:xfrm>
            <a:off x="2148840" y="4270248"/>
            <a:ext cx="17373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Разработка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10590512" y="4315968"/>
            <a:ext cx="238513" cy="219456"/>
          </a:xfrm>
          <a:prstGeom prst="roundRect">
            <a:avLst/>
          </a:prstGeom>
          <a:solidFill>
            <a:srgbClr val="F5A623"/>
          </a:solidFill>
          <a:ln w="9525">
            <a:solidFill>
              <a:srgbClr val="C77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0869025" y="4270248"/>
            <a:ext cx="107405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1 нед, 10 чд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228600" y="4581144"/>
            <a:ext cx="11734477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Rectangle 107"/>
          <p:cNvSpPr/>
          <p:nvPr/>
        </p:nvSpPr>
        <p:spPr>
          <a:xfrm>
            <a:off x="2148840" y="4581144"/>
            <a:ext cx="1737360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Тестирование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10869025" y="4626864"/>
            <a:ext cx="1074052" cy="219456"/>
          </a:xfrm>
          <a:prstGeom prst="roundRect">
            <a:avLst/>
          </a:prstGeom>
          <a:solidFill>
            <a:srgbClr val="E2D1F0"/>
          </a:solidFill>
          <a:ln w="9525">
            <a:solidFill>
              <a:srgbClr val="9B7F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850" b="0">
                <a:solidFill>
                  <a:srgbClr val="333333"/>
                </a:solidFill>
              </a:rPr>
              <a:t>4 нед, 30 чд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28600" y="1161288"/>
            <a:ext cx="1920240" cy="932688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900" b="1">
                <a:solidFill>
                  <a:srgbClr val="333333"/>
                </a:solidFill>
              </a:rPr>
              <a:t>Подключение агента хронологии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228600" y="2093976"/>
            <a:ext cx="1920240" cy="932688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900" b="1">
                <a:solidFill>
                  <a:srgbClr val="333333"/>
                </a:solidFill>
              </a:rPr>
              <a:t>Подключение ESG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228600" y="3026664"/>
            <a:ext cx="1920240" cy="932688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900" b="1">
                <a:solidFill>
                  <a:srgbClr val="333333"/>
                </a:solidFill>
              </a:rPr>
              <a:t>Подключение агента историчность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228600" y="3959352"/>
            <a:ext cx="1920240" cy="932688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900" b="1">
                <a:solidFill>
                  <a:srgbClr val="333333"/>
                </a:solidFill>
              </a:rPr>
              <a:t>Подключение АЕФ</a:t>
            </a:r>
          </a:p>
        </p:txBody>
      </p:sp>
      <p:sp>
        <p:nvSpPr>
          <p:cNvPr id="114" name="Diamond 113"/>
          <p:cNvSpPr/>
          <p:nvPr/>
        </p:nvSpPr>
        <p:spPr>
          <a:xfrm>
            <a:off x="3813048" y="1243584"/>
            <a:ext cx="146304" cy="146304"/>
          </a:xfrm>
          <a:prstGeom prst="diamond">
            <a:avLst/>
          </a:prstGeom>
          <a:solidFill>
            <a:srgbClr val="4472C4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</a:p>
        </p:txBody>
      </p:sp>
      <p:sp>
        <p:nvSpPr>
          <p:cNvPr id="115" name="Diamond 114"/>
          <p:cNvSpPr/>
          <p:nvPr/>
        </p:nvSpPr>
        <p:spPr>
          <a:xfrm>
            <a:off x="7433717" y="1865376"/>
            <a:ext cx="146304" cy="146304"/>
          </a:xfrm>
          <a:prstGeom prst="diamond">
            <a:avLst/>
          </a:prstGeom>
          <a:solidFill>
            <a:srgbClr val="C00000"/>
          </a:solidFill>
          <a:ln w="15875">
            <a:solidFill>
              <a:srgbClr val="7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</a:p>
        </p:txBody>
      </p:sp>
      <p:sp>
        <p:nvSpPr>
          <p:cNvPr id="116" name="Diamond 115"/>
          <p:cNvSpPr/>
          <p:nvPr/>
        </p:nvSpPr>
        <p:spPr>
          <a:xfrm>
            <a:off x="6598178" y="2176272"/>
            <a:ext cx="146304" cy="146304"/>
          </a:xfrm>
          <a:prstGeom prst="diamond">
            <a:avLst/>
          </a:prstGeom>
          <a:solidFill>
            <a:srgbClr val="4472C4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</a:p>
        </p:txBody>
      </p:sp>
      <p:sp>
        <p:nvSpPr>
          <p:cNvPr id="117" name="Diamond 116"/>
          <p:cNvSpPr/>
          <p:nvPr/>
        </p:nvSpPr>
        <p:spPr>
          <a:xfrm>
            <a:off x="8547769" y="2798064"/>
            <a:ext cx="146304" cy="146304"/>
          </a:xfrm>
          <a:prstGeom prst="diamond">
            <a:avLst/>
          </a:prstGeom>
          <a:solidFill>
            <a:srgbClr val="C00000"/>
          </a:solidFill>
          <a:ln w="15875">
            <a:solidFill>
              <a:srgbClr val="7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</a:p>
        </p:txBody>
      </p:sp>
      <p:sp>
        <p:nvSpPr>
          <p:cNvPr id="118" name="Diamond 117"/>
          <p:cNvSpPr/>
          <p:nvPr/>
        </p:nvSpPr>
        <p:spPr>
          <a:xfrm>
            <a:off x="7155204" y="3108960"/>
            <a:ext cx="146304" cy="146304"/>
          </a:xfrm>
          <a:prstGeom prst="diamond">
            <a:avLst/>
          </a:prstGeom>
          <a:solidFill>
            <a:srgbClr val="4472C4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</a:p>
        </p:txBody>
      </p:sp>
      <p:sp>
        <p:nvSpPr>
          <p:cNvPr id="119" name="Diamond 118"/>
          <p:cNvSpPr/>
          <p:nvPr/>
        </p:nvSpPr>
        <p:spPr>
          <a:xfrm>
            <a:off x="10775873" y="3730752"/>
            <a:ext cx="146304" cy="146304"/>
          </a:xfrm>
          <a:prstGeom prst="diamond">
            <a:avLst/>
          </a:prstGeom>
          <a:solidFill>
            <a:srgbClr val="C00000"/>
          </a:solidFill>
          <a:ln w="15875">
            <a:solidFill>
              <a:srgbClr val="7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</a:p>
        </p:txBody>
      </p:sp>
      <p:sp>
        <p:nvSpPr>
          <p:cNvPr id="120" name="Diamond 119"/>
          <p:cNvSpPr/>
          <p:nvPr/>
        </p:nvSpPr>
        <p:spPr>
          <a:xfrm>
            <a:off x="9940334" y="4041648"/>
            <a:ext cx="146304" cy="146304"/>
          </a:xfrm>
          <a:prstGeom prst="diamond">
            <a:avLst/>
          </a:prstGeom>
          <a:solidFill>
            <a:srgbClr val="4472C4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</a:p>
        </p:txBody>
      </p:sp>
      <p:sp>
        <p:nvSpPr>
          <p:cNvPr id="121" name="Diamond 120"/>
          <p:cNvSpPr/>
          <p:nvPr/>
        </p:nvSpPr>
        <p:spPr>
          <a:xfrm>
            <a:off x="11889925" y="4663440"/>
            <a:ext cx="146304" cy="146304"/>
          </a:xfrm>
          <a:prstGeom prst="diamond">
            <a:avLst/>
          </a:prstGeom>
          <a:solidFill>
            <a:srgbClr val="C00000"/>
          </a:solidFill>
          <a:ln w="15875">
            <a:solidFill>
              <a:srgbClr val="7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</a:p>
        </p:txBody>
      </p:sp>
      <p:cxnSp>
        <p:nvCxnSpPr>
          <p:cNvPr id="122" name="Connector 121"/>
          <p:cNvCxnSpPr/>
          <p:nvPr/>
        </p:nvCxnSpPr>
        <p:spPr>
          <a:xfrm>
            <a:off x="4025456" y="1161288"/>
            <a:ext cx="0" cy="3730752"/>
          </a:xfrm>
          <a:prstGeom prst="line">
            <a:avLst/>
          </a:prstGeom>
          <a:ln w="22225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3886200" y="685800"/>
            <a:ext cx="0" cy="4206240"/>
          </a:xfrm>
          <a:prstGeom prst="line">
            <a:avLst/>
          </a:prstGeom>
          <a:ln w="1905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Rectangle 123"/>
          <p:cNvSpPr/>
          <p:nvPr/>
        </p:nvSpPr>
        <p:spPr>
          <a:xfrm>
            <a:off x="3886200" y="685800"/>
            <a:ext cx="566928" cy="256032"/>
          </a:xfrm>
          <a:prstGeom prst="rect">
            <a:avLst/>
          </a:prstGeom>
          <a:solidFill>
            <a:srgbClr val="4472C4"/>
          </a:solidFill>
          <a:ln w="952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1">
                <a:solidFill>
                  <a:srgbClr val="FFFFFF"/>
                </a:solidFill>
              </a:rPr>
              <a:t>⚑ Старт</a:t>
            </a:r>
          </a:p>
        </p:txBody>
      </p:sp>
      <p:cxnSp>
        <p:nvCxnSpPr>
          <p:cNvPr id="125" name="Connector 124"/>
          <p:cNvCxnSpPr/>
          <p:nvPr/>
        </p:nvCxnSpPr>
        <p:spPr>
          <a:xfrm>
            <a:off x="11963077" y="685800"/>
            <a:ext cx="0" cy="4206240"/>
          </a:xfrm>
          <a:prstGeom prst="line">
            <a:avLst/>
          </a:prstGeom>
          <a:ln w="19050">
            <a:solidFill>
              <a:srgbClr val="7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Rectangle 125"/>
          <p:cNvSpPr/>
          <p:nvPr/>
        </p:nvSpPr>
        <p:spPr>
          <a:xfrm>
            <a:off x="11396149" y="685800"/>
            <a:ext cx="566928" cy="256032"/>
          </a:xfrm>
          <a:prstGeom prst="rect">
            <a:avLst/>
          </a:prstGeom>
          <a:solidFill>
            <a:srgbClr val="C00000"/>
          </a:solidFill>
          <a:ln w="9525">
            <a:solidFill>
              <a:srgbClr val="7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r"/>
            <a:r>
              <a:rPr sz="800" b="1">
                <a:solidFill>
                  <a:srgbClr val="FFFFFF"/>
                </a:solidFill>
              </a:rPr>
              <a:t>Финиш ⚑</a:t>
            </a:r>
          </a:p>
        </p:txBody>
      </p:sp>
      <p:sp>
        <p:nvSpPr>
          <p:cNvPr id="127" name="Diamond 126"/>
          <p:cNvSpPr/>
          <p:nvPr/>
        </p:nvSpPr>
        <p:spPr>
          <a:xfrm>
            <a:off x="228600" y="5042916"/>
            <a:ext cx="118872" cy="118872"/>
          </a:xfrm>
          <a:prstGeom prst="diamond">
            <a:avLst/>
          </a:prstGeom>
          <a:solidFill>
            <a:srgbClr val="4CAF50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374904" y="5001768"/>
            <a:ext cx="86868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выполнено</a:t>
            </a:r>
          </a:p>
        </p:txBody>
      </p:sp>
      <p:sp>
        <p:nvSpPr>
          <p:cNvPr id="129" name="Diamond 128"/>
          <p:cNvSpPr/>
          <p:nvPr/>
        </p:nvSpPr>
        <p:spPr>
          <a:xfrm>
            <a:off x="1280160" y="5042916"/>
            <a:ext cx="118872" cy="11887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E539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1426464" y="5001768"/>
            <a:ext cx="86868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план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2331720" y="5042916"/>
            <a:ext cx="219456" cy="118872"/>
          </a:xfrm>
          <a:prstGeom prst="roundRect">
            <a:avLst/>
          </a:prstGeom>
          <a:solidFill>
            <a:srgbClr val="F5A623"/>
          </a:solidFill>
          <a:ln w="12700">
            <a:solidFill>
              <a:srgbClr val="C77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2578608" y="5001768"/>
            <a:ext cx="86868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работы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3483864" y="5042916"/>
            <a:ext cx="219456" cy="118872"/>
          </a:xfrm>
          <a:prstGeom prst="roundRect">
            <a:avLst/>
          </a:prstGeom>
          <a:solidFill>
            <a:srgbClr val="BDD7EE"/>
          </a:solidFill>
          <a:ln w="12700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3730752" y="5001768"/>
            <a:ext cx="86868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аналитика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4636008" y="5042916"/>
            <a:ext cx="219456" cy="118872"/>
          </a:xfrm>
          <a:prstGeom prst="roundRect">
            <a:avLst/>
          </a:prstGeom>
          <a:solidFill>
            <a:srgbClr val="E2D1F0"/>
          </a:solidFill>
          <a:ln w="12700">
            <a:solidFill>
              <a:srgbClr val="9B7F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882896" y="5001768"/>
            <a:ext cx="86868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тестирование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5788152" y="5042916"/>
            <a:ext cx="219456" cy="118872"/>
          </a:xfrm>
          <a:prstGeom prst="roundRect">
            <a:avLst/>
          </a:prstGeom>
          <a:solidFill>
            <a:srgbClr val="FBEAB6"/>
          </a:solidFill>
          <a:ln w="12700">
            <a:solidFill>
              <a:srgbClr val="E0C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6035040" y="5001768"/>
            <a:ext cx="86868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оценка т/з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6940296" y="5042916"/>
            <a:ext cx="219456" cy="118872"/>
          </a:xfrm>
          <a:prstGeom prst="roundRect">
            <a:avLst/>
          </a:prstGeom>
          <a:solidFill>
            <a:srgbClr val="FFF176"/>
          </a:solidFill>
          <a:ln w="12700">
            <a:solidFill>
              <a:srgbClr val="D4C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7187184" y="5001768"/>
            <a:ext cx="86868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отпуск</a:t>
            </a:r>
          </a:p>
        </p:txBody>
      </p:sp>
      <p:sp>
        <p:nvSpPr>
          <p:cNvPr id="141" name="Pentagon 140"/>
          <p:cNvSpPr/>
          <p:nvPr/>
        </p:nvSpPr>
        <p:spPr>
          <a:xfrm>
            <a:off x="8092440" y="5042916"/>
            <a:ext cx="219456" cy="118872"/>
          </a:xfrm>
          <a:prstGeom prst="homePlate">
            <a:avLst/>
          </a:prstGeom>
          <a:solidFill>
            <a:srgbClr val="4472C4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8339328" y="5001768"/>
            <a:ext cx="86868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старт</a:t>
            </a:r>
          </a:p>
        </p:txBody>
      </p:sp>
      <p:sp>
        <p:nvSpPr>
          <p:cNvPr id="143" name="Pentagon 142"/>
          <p:cNvSpPr/>
          <p:nvPr/>
        </p:nvSpPr>
        <p:spPr>
          <a:xfrm>
            <a:off x="9244584" y="5042916"/>
            <a:ext cx="219456" cy="118872"/>
          </a:xfrm>
          <a:prstGeom prst="homePlate">
            <a:avLst/>
          </a:prstGeom>
          <a:solidFill>
            <a:srgbClr val="C00000"/>
          </a:solidFill>
          <a:ln w="12700">
            <a:solidFill>
              <a:srgbClr val="7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9491472" y="5001768"/>
            <a:ext cx="86868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l"/>
            <a:r>
              <a:rPr sz="800" b="0">
                <a:solidFill>
                  <a:srgbClr val="333333"/>
                </a:solidFill>
              </a:rPr>
              <a:t>финиш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