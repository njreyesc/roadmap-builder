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периметр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06200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44659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3" name="Diamond 42"/>
          <p:cNvSpPr/>
          <p:nvPr/>
        </p:nvSpPr>
        <p:spPr>
          <a:xfrm>
            <a:off x="4082277" y="1243584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BFF Периметр КГ, виджет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06200" y="1517904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BFF Периметр КГ.PL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запрос в БФФ (Байкал5), обогащение из ЕПК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3118" y="1828800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Байкал, ЕПК</a:t>
            </a:r>
          </a:p>
        </p:txBody>
      </p:sp>
      <p:sp>
        <p:nvSpPr>
          <p:cNvPr id="50" name="Diamond 49"/>
          <p:cNvSpPr/>
          <p:nvPr/>
        </p:nvSpPr>
        <p:spPr>
          <a:xfrm>
            <a:off x="5697654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Агент ФЖН [SDD]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06200" y="2139696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21577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5" name="Diamond 54"/>
          <p:cNvSpPr/>
          <p:nvPr/>
        </p:nvSpPr>
        <p:spPr>
          <a:xfrm>
            <a:off x="4082277" y="217627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внедрение агентов [SDD], 50 чд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906200" y="2450592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АЕФ.суммаризатор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агент ФЖН в ЦПС (БФФ→РА→ЭКД, риск-метрики)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21577" y="2761488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Агент ФЖН.Checklist-verif. 13чд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новый микрофронт + поллинг (3+3 чд)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98495" y="307238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75413" y="3026664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ЦПС.микрофронт.PL</a:t>
            </a:r>
          </a:p>
        </p:txBody>
      </p:sp>
      <p:sp>
        <p:nvSpPr>
          <p:cNvPr id="66" name="Diamond 65"/>
          <p:cNvSpPr/>
          <p:nvPr/>
        </p:nvSpPr>
        <p:spPr>
          <a:xfrm>
            <a:off x="7313031" y="310896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предконтроль по рискам СберФакторинг [SDD]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44659" y="3383280"/>
            <a:ext cx="3729213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0" name="Diamond 69"/>
          <p:cNvSpPr/>
          <p:nvPr/>
        </p:nvSpPr>
        <p:spPr>
          <a:xfrm>
            <a:off x="4620736" y="341985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Миша: УЗ — настроечная таблица (2 чд)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60036" y="369417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98495" y="3648456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РЭКИБ.УЗ.doc-processor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Мурад: РЭКИБ РА (result-app, handler-app, handler-risk-app) — АПИ +…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213872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handler-risk-app), 15 чд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13872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РЭКИБ.КП.result-app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УЗ — виджет от КП (5 чд)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13872" y="462686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752331" y="4581144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НЭР.виджет.PL (КП)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005326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151630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13.09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50" b="0">
                <a:solidFill>
                  <a:srgbClr val="333333"/>
                </a:solidFill>
              </a:rPr>
              <a:t>Аналитика (Дима): предконтроль модели CF перед отправкой на НЭР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36954" y="493776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0" name="Diamond 89"/>
          <p:cNvSpPr/>
          <p:nvPr/>
        </p:nvSpPr>
        <p:spPr>
          <a:xfrm>
            <a:off x="7313031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интегр…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752331" y="524865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sp>
        <p:nvSpPr>
          <p:cNvPr id="94" name="Diamond 93"/>
          <p:cNvSpPr/>
          <p:nvPr/>
        </p:nvSpPr>
        <p:spPr>
          <a:xfrm>
            <a:off x="10543785" y="528523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ОКК (OCRED-25995)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60036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598495" y="5513832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9" name="Diamond 98"/>
          <p:cNvSpPr/>
          <p:nvPr/>
        </p:nvSpPr>
        <p:spPr>
          <a:xfrm>
            <a:off x="6236113" y="559612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ARGUSRA-5286 Форма хронологии контрагента (периметр КГ)
(Дима (SDD); Максим, Таня (dev))
Сервисы: БФФ, Байкал5, ЕПК, ЦПС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8600" y="209397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ARGUSRA-5499 Внедрение агентов ФЖН
(Егор (SDD); АЕФ, Даша, Таня (dev))
Сервисы: ЦПС, БФФ, РА, ЭКД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3337560"/>
            <a:ext cx="192024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ARGUSRA-5694 НЭР: предконтроль по рискам (СберФакторинг)
(Юля (SDD); Мурад, Антон, Миша, Эрнест (dev))
Сервисы: НЭР, РЭКИБ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28600" y="489204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ARGUSRA-5695 НЭР: предконтроль модели CF
(Дима (SDD); Гоша (dev))
Сервисы: НЭР, ЭКД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8600" y="5513832"/>
            <a:ext cx="1920240" cy="31089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1">
                <a:solidFill>
                  <a:srgbClr val="333333"/>
                </a:solidFill>
              </a:rPr>
              <a:t>ARGUSRA-5697 НЭР: внешние сервисы, принятие решения 26Q3
(Дима, Настя, Егор…</a:t>
            </a:r>
          </a:p>
        </p:txBody>
      </p:sp>
      <p:sp>
        <p:nvSpPr>
          <p:cNvPr id="105" name="Diamond 104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Diamond 105"/>
          <p:cNvSpPr/>
          <p:nvPr/>
        </p:nvSpPr>
        <p:spPr>
          <a:xfrm>
            <a:off x="5966884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7" name="Diamond 106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Diamond 107"/>
          <p:cNvSpPr/>
          <p:nvPr/>
        </p:nvSpPr>
        <p:spPr>
          <a:xfrm>
            <a:off x="7582261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4351507" y="341985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10274556" y="341985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7043802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Diamond 111"/>
          <p:cNvSpPr/>
          <p:nvPr/>
        </p:nvSpPr>
        <p:spPr>
          <a:xfrm>
            <a:off x="10813015" y="497433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5966884" y="559612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Diamond 113"/>
          <p:cNvSpPr/>
          <p:nvPr/>
        </p:nvSpPr>
        <p:spPr>
          <a:xfrm>
            <a:off x="10813015" y="559612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20" name="Diamond 119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2" name="Diamond 121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34" name="Pentagon 133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36" name="Pentagon 135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Топик МД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Профиль сотрудника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98495" y="1517904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УФА (РА/Заключение), БКИ (РА)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13872" y="182880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(Егор): БКИ (КП)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52331" y="213969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код ОКК по мониторингу клиента (3 ч/д)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ОКК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фин. анализ УФА, +2 интеграции, маппинги (20 чд)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75413" y="276148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НЭР.УФА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ЕФС.ПР — переход на search/getProfile (3 ч/д)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2924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ЕФС.ПР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Максим: РЭКИБ.ЦПС — проверка использования search (3 ч/д)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367708" y="3383280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906167" y="3337560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РЭКИБ.ЦПС.supplier</a:t>
            </a:r>
          </a:p>
        </p:txBody>
      </p:sp>
      <p:sp>
        <p:nvSpPr>
          <p:cNvPr id="64" name="Diamond 63"/>
          <p:cNvSpPr/>
          <p:nvPr/>
        </p:nvSpPr>
        <p:spPr>
          <a:xfrm>
            <a:off x="10543785" y="341985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подключение ESG [SDD]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906200" y="3694176"/>
            <a:ext cx="211383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8" name="Diamond 67"/>
          <p:cNvSpPr/>
          <p:nvPr/>
        </p:nvSpPr>
        <p:spPr>
          <a:xfrm>
            <a:off x="4082277" y="3730752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Антон: РЭКИБ КП (result-app, handler-app, handler-risk-app) — метри…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983118" y="4005072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РЭКИБ.КП.result-app / ЕФС.КП.BFF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Гоша: РЭКИБ РА (result-app, handler-app, handler-risk-app) — новая 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60036" y="4315968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РЭКИБ.РА.result-app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подключение ESG (5 чд)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98495" y="4626864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НЭР.UI.PL (ESG)</a:t>
            </a:r>
          </a:p>
        </p:txBody>
      </p:sp>
      <p:sp>
        <p:nvSpPr>
          <p:cNvPr id="78" name="Diamond 77"/>
          <p:cNvSpPr/>
          <p:nvPr/>
        </p:nvSpPr>
        <p:spPr>
          <a:xfrm>
            <a:off x="7851490" y="466344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997794" y="4581144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 16.08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Агент Хронологии (без Риск-ассистента)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444659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60036" y="4937760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4" name="Diamond 83"/>
          <p:cNvSpPr/>
          <p:nvPr/>
        </p:nvSpPr>
        <p:spPr>
          <a:xfrm>
            <a:off x="4082277" y="497433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хронология-БФФ, отдельный микросервис в ЦПС (10 чд)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06200" y="5248656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ЦПС.хронология.BFF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АЕФ: 45 чд (оценка под вопросом)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060036" y="5559552"/>
            <a:ext cx="37292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АЕФ 45 чд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248716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ARGUSRA-5697 НЭР: внешние сервисы, принятие решения 26Q3
(Дима, Настя, Егор (SDD); Максим (dev))
Сервисы: НЭР, УФА, ЕФС, ОКК, БКИ, РЭКИБ.ЦПС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3648456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ARGUSRA-5698 НЭР: подключение ESG
(Настя (SDD); Антон, Гоша, Эрнест (dev))
Сервисы: НЭР, РЭКИБ, ЕФС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4892040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4" name="Diamond 93"/>
          <p:cNvSpPr/>
          <p:nvPr/>
        </p:nvSpPr>
        <p:spPr>
          <a:xfrm>
            <a:off x="5966884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10813015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3813048" y="373075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8120720" y="373075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3813048" y="497433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9736097" y="497433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5" name="Diamond 104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7" name="Diamond 106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9" name="Pentagon 118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1" name="Pentagon 120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ЕПК_id от UI → запрос в AI-Hub (5 чд)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6954" y="120700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13872" y="1161288"/>
            <a:ext cx="2113836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РЭКИБ.РА.handler-app (AI-Hub)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Таня (UI): виджет «Хронология», плашки негативных событий (10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75413" y="1517904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ЦПС.виджет.PL «Хронология»</a:t>
            </a:r>
          </a:p>
        </p:txBody>
      </p:sp>
      <p:sp>
        <p:nvSpPr>
          <p:cNvPr id="46" name="Diamond 45"/>
          <p:cNvSpPr/>
          <p:nvPr/>
        </p:nvSpPr>
        <p:spPr>
          <a:xfrm>
            <a:off x="9466867" y="1554480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(Ульяна): ККА интеграция с СУДИР, 10 чд [SDD]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06200" y="1828800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0" name="Diamond 49"/>
          <p:cNvSpPr/>
          <p:nvPr/>
        </p:nvSpPr>
        <p:spPr>
          <a:xfrm>
            <a:off x="4082277" y="1865376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Мурад: интеграция (20 чд)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60036" y="2139696"/>
            <a:ext cx="211383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ККА.handler-app (СУДИР/REST)</a:t>
            </a:r>
          </a:p>
        </p:txBody>
      </p:sp>
      <p:sp>
        <p:nvSpPr>
          <p:cNvPr id="54" name="Diamond 53"/>
          <p:cNvSpPr/>
          <p:nvPr/>
        </p:nvSpPr>
        <p:spPr>
          <a:xfrm>
            <a:off x="7851490" y="2176272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Лимиты ОФР в ЦКП (ветка с откл. / МВП)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75413" y="2450592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8" name="Diamond 57"/>
          <p:cNvSpPr/>
          <p:nvPr/>
        </p:nvSpPr>
        <p:spPr>
          <a:xfrm>
            <a:off x="7851490" y="2487168"/>
            <a:ext cx="146304" cy="146304"/>
          </a:xfrm>
          <a:prstGeom prst="diamond">
            <a:avLst/>
          </a:prstGeom>
          <a:solidFill>
            <a:srgbClr val="4CAF50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BEST OFFERS 4.0 — внедрение в ЦКП: ЦПС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52331" y="2761488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презентация по сделкам ПРПА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90790" y="3072384"/>
            <a:ext cx="103691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28600" y="333756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ЦПС А, ОКК, суммаризация рисков, ПРПА, Сделки_ДЗО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752331" y="3383280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ЦКП.ЦПС.result-app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28600" y="364845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Даша: ЦПС А, ОКК, суммаризация рисков, ПРПА, Сделки_ДЗО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52331" y="3694176"/>
            <a:ext cx="1575377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Риски.РА.result-app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28600" y="395935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Таня (UI): фронт — ЦПС А, УЗ, Риски/РА, РМКИ-лизинг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829249" y="4005072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ЦКП.фронт.PL (ЦПС)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8600" y="427024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Эрнест (UI): фронт — ЦПС А, УЗ, Риски/РА, РМКИ-лизинг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9249" y="4315968"/>
            <a:ext cx="103691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360381" tIns="9000" bIns="900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06167" y="4270248"/>
            <a:ext cx="103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ЦКП.фронт.PL (УЗ)</a:t>
            </a:r>
          </a:p>
        </p:txBody>
      </p:sp>
      <p:sp>
        <p:nvSpPr>
          <p:cNvPr id="78" name="Diamond 77"/>
          <p:cNvSpPr/>
          <p:nvPr/>
        </p:nvSpPr>
        <p:spPr>
          <a:xfrm>
            <a:off x="10543785" y="4352544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(Дима): комплектность перед НРЭ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906200" y="4626864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8600" y="489204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148840" y="489204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(Дима): Сделки_ДЗО — ПАЛ/ИР, откл. FR/ПБ, КО из РМКИ лизи…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213872" y="4937760"/>
            <a:ext cx="1575377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8600" y="520293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148840" y="520293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(Настя): выход на КО по сделкам СБЛ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598495" y="5248656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8600" y="551383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2148840" y="551383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 (Юля): доработка новых метрик по фин. риску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906200" y="5559552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8600" y="1161288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ARGUSRA-5699 РА: агент по хронологии
(Дима (SDD); Рим, Даша, Таня, АЕФ (dev))
Сервисы: ЦПС, БФФ, ЕПК, AI-Hub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1783080"/>
            <a:ext cx="1920240" cy="62179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ARGUSRA-5715 ККА: интеграция с СУДИР (отказ от SOAP)
(Ульяна (SDD); Мурад (dev))
Сервисы: ККА, СУДИР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28600" y="2404872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ARGUSRA-5724 ЦКП [BEST OFFERS 4.0]
(Настя, Юля (SDD); Рим, Даша, Таня, Эрнест (dev))
Сервисы: ЦКП, ЦПС, ОКК, РМКИ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4581144"/>
            <a:ext cx="1920240" cy="124358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sp>
        <p:nvSpPr>
          <p:cNvPr id="95" name="Diamond 94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6" name="Diamond 95"/>
          <p:cNvSpPr/>
          <p:nvPr/>
        </p:nvSpPr>
        <p:spPr>
          <a:xfrm>
            <a:off x="9736097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7" name="Diamond 96"/>
          <p:cNvSpPr/>
          <p:nvPr/>
        </p:nvSpPr>
        <p:spPr>
          <a:xfrm>
            <a:off x="3813048" y="1865376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8" name="Diamond 97"/>
          <p:cNvSpPr/>
          <p:nvPr/>
        </p:nvSpPr>
        <p:spPr>
          <a:xfrm>
            <a:off x="8120720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9" name="Diamond 98"/>
          <p:cNvSpPr/>
          <p:nvPr/>
        </p:nvSpPr>
        <p:spPr>
          <a:xfrm>
            <a:off x="7582261" y="248716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10813015" y="248716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1" name="Diamond 100"/>
          <p:cNvSpPr/>
          <p:nvPr/>
        </p:nvSpPr>
        <p:spPr>
          <a:xfrm>
            <a:off x="3813048" y="466344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Diamond 101"/>
          <p:cNvSpPr/>
          <p:nvPr/>
        </p:nvSpPr>
        <p:spPr>
          <a:xfrm>
            <a:off x="9736097" y="466344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770806" y="1161288"/>
            <a:ext cx="0" cy="4663440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86200" y="685800"/>
            <a:ext cx="0" cy="513892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1963085" y="685800"/>
            <a:ext cx="0" cy="513892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8" name="Diamond 107"/>
          <p:cNvSpPr/>
          <p:nvPr/>
        </p:nvSpPr>
        <p:spPr>
          <a:xfrm>
            <a:off x="228600" y="5975604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7490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10" name="Diamond 109"/>
          <p:cNvSpPr/>
          <p:nvPr/>
        </p:nvSpPr>
        <p:spPr>
          <a:xfrm>
            <a:off x="1280160" y="5975604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42646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331720" y="5975604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57860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483864" y="5975604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3075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36008" y="5975604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82896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788152" y="5975604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035040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940296" y="5975604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187184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22" name="Pentagon 121"/>
          <p:cNvSpPr/>
          <p:nvPr/>
        </p:nvSpPr>
        <p:spPr>
          <a:xfrm>
            <a:off x="8092440" y="5975604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339328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4" name="Pentagon 123"/>
          <p:cNvSpPr/>
          <p:nvPr/>
        </p:nvSpPr>
        <p:spPr>
          <a:xfrm>
            <a:off x="9244584" y="5975604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491472" y="5934456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план работ Q3 2026 (спринты 40–46) 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аналитика (SDD, голубой) + разработка (оранжевый), дорожки по ключам задач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07691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Июнь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963118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6954" y="685800"/>
            <a:ext cx="26922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09249" y="685800"/>
            <a:ext cx="215383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22-28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465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29-05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311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06-12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1577" y="941832"/>
            <a:ext cx="53845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003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8495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6954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5413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872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331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0790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09249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47708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6167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24626" y="941832"/>
            <a:ext cx="53845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620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2465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6311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0157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4003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7849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16954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55413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93872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732331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70790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09249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347708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6167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424626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963085" y="1161288"/>
            <a:ext cx="0" cy="217627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8600" y="116128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Аналитика (Егор): гарант. доставка событий аудита AI Risk HUB; пере…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44659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98495" y="1207008"/>
            <a:ext cx="498459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аналитика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28600" y="147218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Deployment ДА (SberApi); архдефект API-REST-17-5 (3 чд)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4659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SberApi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118" y="151790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650" b="0">
                <a:solidFill>
                  <a:srgbClr val="333333"/>
                </a:solidFill>
              </a:rPr>
              <a:t>архдефект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28600" y="1783080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выход на КО</a:t>
            </a:r>
          </a:p>
        </p:txBody>
      </p:sp>
      <p:sp>
        <p:nvSpPr>
          <p:cNvPr id="49" name="Diamond 48"/>
          <p:cNvSpPr/>
          <p:nvPr/>
        </p:nvSpPr>
        <p:spPr>
          <a:xfrm>
            <a:off x="7851490" y="1865376"/>
            <a:ext cx="146304" cy="14630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97794" y="1783080"/>
            <a:ext cx="107691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Выход на КО по сделкам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2093976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Рим: Сделки_ДЗО — утилизация сделок с ПАЛ/ИР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13872" y="2139696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ПАЛ/ИР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2404872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Даша: откл. РЭКИБ.Flow (3 ч/д); дефолтная реструктуризация (4 чд); 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906200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Flow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44659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рестр.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83118" y="2450592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скрытие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28600" y="2715768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Максим: таймауты REST + дестр. тест (4 чд); ретро-анализ кластера (…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906200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REST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444659" y="2761488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ретро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8600" y="3026664"/>
            <a:ext cx="11734485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700" b="0">
                <a:solidFill>
                  <a:srgbClr val="333333"/>
                </a:solidFill>
              </a:rPr>
              <a:t>Миша: SDD+скилл; комплектность НЭР; БИТЛ/Кафка/DropAPP; пакетная за…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06200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SDD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44659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НЭР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83118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БИТЛ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1577" y="3072384"/>
            <a:ext cx="49845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750" b="0">
                <a:solidFill>
                  <a:srgbClr val="333333"/>
                </a:solidFill>
              </a:rPr>
              <a:t>пакетная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8600" y="1161288"/>
            <a:ext cx="1920240" cy="217627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Задачи вне тикетов (аналитика + разработка)</a:t>
            </a:r>
          </a:p>
        </p:txBody>
      </p:sp>
      <p:sp>
        <p:nvSpPr>
          <p:cNvPr id="70" name="Diamond 69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9736097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770806" y="1161288"/>
            <a:ext cx="0" cy="217627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886200" y="685800"/>
            <a:ext cx="0" cy="265176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1963085" y="685800"/>
            <a:ext cx="0" cy="265176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11396157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77" name="Diamond 76"/>
          <p:cNvSpPr/>
          <p:nvPr/>
        </p:nvSpPr>
        <p:spPr>
          <a:xfrm>
            <a:off x="228600" y="348843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7490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79" name="Diamond 78"/>
          <p:cNvSpPr/>
          <p:nvPr/>
        </p:nvSpPr>
        <p:spPr>
          <a:xfrm>
            <a:off x="1280160" y="348843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2646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31720" y="348843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7860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3864" y="348843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3075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636008" y="348843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882896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788152" y="348843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035040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40296" y="348843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187184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91" name="Pentagon 90"/>
          <p:cNvSpPr/>
          <p:nvPr/>
        </p:nvSpPr>
        <p:spPr>
          <a:xfrm>
            <a:off x="8092440" y="348843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39328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93" name="Pentagon 92"/>
          <p:cNvSpPr/>
          <p:nvPr/>
        </p:nvSpPr>
        <p:spPr>
          <a:xfrm>
            <a:off x="9244584" y="348843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491472" y="344728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