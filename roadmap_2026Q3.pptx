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73152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1800" b="1">
                <a:solidFill>
                  <a:srgbClr val="333333"/>
                </a:solidFill>
              </a:rPr>
              <a:t>Roadmap: план работ Q3 2026 (спринты 40–46) (1/4)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7543800" y="228600"/>
            <a:ext cx="4419295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r"/>
            <a:r>
              <a:rPr sz="1000" b="0">
                <a:solidFill>
                  <a:srgbClr val="4472C4"/>
                </a:solidFill>
              </a:rPr>
              <a:t>аналитика (SDD, голубой) + разработка (оранжевый), дорожки по ключам задач</a:t>
            </a:r>
          </a:p>
        </p:txBody>
      </p:sp>
      <p:sp>
        <p:nvSpPr>
          <p:cNvPr id="4" name="Rectangle 3"/>
          <p:cNvSpPr/>
          <p:nvPr/>
        </p:nvSpPr>
        <p:spPr>
          <a:xfrm>
            <a:off x="3886200" y="685800"/>
            <a:ext cx="1076918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Июнь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963118" y="685800"/>
            <a:ext cx="2153836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Июль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116954" y="685800"/>
            <a:ext cx="2692295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Август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09249" y="685800"/>
            <a:ext cx="2153836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Сентябрь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22-28</a:t>
            </a:r>
          </a:p>
        </p:txBody>
      </p:sp>
      <p:sp>
        <p:nvSpPr>
          <p:cNvPr id="9" name="Rectangle 8"/>
          <p:cNvSpPr/>
          <p:nvPr/>
        </p:nvSpPr>
        <p:spPr>
          <a:xfrm>
            <a:off x="4424659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29-05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63118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06-12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1577" y="941832"/>
            <a:ext cx="538459" cy="219456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13-19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40036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20-26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78495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27-02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16954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03-09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55413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10-16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872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17-23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331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24-30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70790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31-06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09249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07-13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47708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14-20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86167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21-27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24626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28-04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86200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24659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963118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501577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40036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78495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116954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55413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93872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732331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270790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809249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347708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886167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424626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963085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28600" y="1161288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148840" y="1161288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 (Дима): периметр КГ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06200" y="1207008"/>
            <a:ext cx="498459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360381" tIns="9000" bIns="900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44659" y="1161288"/>
            <a:ext cx="2113836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</a:t>
            </a:r>
          </a:p>
        </p:txBody>
      </p:sp>
      <p:sp>
        <p:nvSpPr>
          <p:cNvPr id="43" name="Diamond 42"/>
          <p:cNvSpPr/>
          <p:nvPr/>
        </p:nvSpPr>
        <p:spPr>
          <a:xfrm>
            <a:off x="4082277" y="1243584"/>
            <a:ext cx="146304" cy="146304"/>
          </a:xfrm>
          <a:prstGeom prst="diamond">
            <a:avLst/>
          </a:prstGeom>
          <a:solidFill>
            <a:srgbClr val="4CAF50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228600" y="1472184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2148840" y="1472184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Таня (UI): BFF Периметр КГ, виджет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06200" y="1517904"/>
            <a:ext cx="1575377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BFF Периметр КГ.PL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28600" y="1783080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2148840" y="1783080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Максим: запрос в БФФ (Байкал5), обогащение из ЕПК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83118" y="1828800"/>
            <a:ext cx="1036918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360381" tIns="9000" bIns="9000"/>
          <a:lstStyle/>
          <a:p>
            <a:pPr algn="ctr"/>
            <a:r>
              <a:rPr sz="750" b="0">
                <a:solidFill>
                  <a:srgbClr val="333333"/>
                </a:solidFill>
              </a:rPr>
              <a:t>Байкал, ЕПК</a:t>
            </a:r>
          </a:p>
        </p:txBody>
      </p:sp>
      <p:sp>
        <p:nvSpPr>
          <p:cNvPr id="50" name="Diamond 49"/>
          <p:cNvSpPr/>
          <p:nvPr/>
        </p:nvSpPr>
        <p:spPr>
          <a:xfrm>
            <a:off x="5697654" y="1865376"/>
            <a:ext cx="146304" cy="14630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228600" y="2093976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2148840" y="2093976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 (Егор): Агент ФЖН [SDD]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906200" y="2139696"/>
            <a:ext cx="1036918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аналитика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521577" y="2139696"/>
            <a:ext cx="498459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650" b="0">
                <a:solidFill>
                  <a:srgbClr val="333333"/>
                </a:solidFill>
              </a:rPr>
              <a:t>аналитика</a:t>
            </a:r>
          </a:p>
        </p:txBody>
      </p:sp>
      <p:sp>
        <p:nvSpPr>
          <p:cNvPr id="55" name="Diamond 54"/>
          <p:cNvSpPr/>
          <p:nvPr/>
        </p:nvSpPr>
        <p:spPr>
          <a:xfrm>
            <a:off x="4082277" y="2176272"/>
            <a:ext cx="146304" cy="146304"/>
          </a:xfrm>
          <a:prstGeom prst="diamond">
            <a:avLst/>
          </a:prstGeom>
          <a:solidFill>
            <a:srgbClr val="4CAF50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228600" y="2404872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2148840" y="2404872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АЕФ: внедрение агентов [SDD], 50 чд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906200" y="2450592"/>
            <a:ext cx="2113836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АЕФ.суммаризатор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28600" y="2715768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2148840" y="2715768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Даша: агент ФЖН в ЦПС (БФФ→РА→ЭКД, риск-метрики)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521577" y="2761488"/>
            <a:ext cx="1575377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650" b="0">
                <a:solidFill>
                  <a:srgbClr val="333333"/>
                </a:solidFill>
              </a:rPr>
              <a:t>Агент ФЖН.Checklist-verif. 13чд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228600" y="3026664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2148840" y="3026664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Таня (UI): новый микрофронт + поллинг (3+3 чд)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98495" y="3072384"/>
            <a:ext cx="1036918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360381" tIns="9000" bIns="9000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75413" y="3026664"/>
            <a:ext cx="2113836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ЦПС.микрофронт.PL</a:t>
            </a:r>
          </a:p>
        </p:txBody>
      </p:sp>
      <p:sp>
        <p:nvSpPr>
          <p:cNvPr id="66" name="Diamond 65"/>
          <p:cNvSpPr/>
          <p:nvPr/>
        </p:nvSpPr>
        <p:spPr>
          <a:xfrm>
            <a:off x="7313031" y="3108960"/>
            <a:ext cx="146304" cy="14630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228600" y="3337560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2148840" y="3337560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 (Юля): предконтроль по рискам СберФакторинг [SDD]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444659" y="3383280"/>
            <a:ext cx="3729213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аналитика</a:t>
            </a:r>
          </a:p>
        </p:txBody>
      </p:sp>
      <p:sp>
        <p:nvSpPr>
          <p:cNvPr id="70" name="Diamond 69"/>
          <p:cNvSpPr/>
          <p:nvPr/>
        </p:nvSpPr>
        <p:spPr>
          <a:xfrm>
            <a:off x="4620736" y="3419856"/>
            <a:ext cx="146304" cy="146304"/>
          </a:xfrm>
          <a:prstGeom prst="diamond">
            <a:avLst/>
          </a:prstGeom>
          <a:solidFill>
            <a:srgbClr val="4CAF50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228600" y="3648456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2148840" y="3648456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Миша: УЗ — настроечная таблица (2 чд)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060036" y="3694176"/>
            <a:ext cx="498459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98495" y="3648456"/>
            <a:ext cx="2113836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РЭКИБ.УЗ.doc-processor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228600" y="3959352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2148840" y="3959352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700" b="0">
                <a:solidFill>
                  <a:srgbClr val="333333"/>
                </a:solidFill>
              </a:rPr>
              <a:t>Мурад: РЭКИБ РА (result-app, handler-app, handler-risk-app) — АПИ +…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213872" y="4005072"/>
            <a:ext cx="1036918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650" b="0">
                <a:solidFill>
                  <a:srgbClr val="333333"/>
                </a:solidFill>
              </a:rPr>
              <a:t>РЭКИБ.РА.result-app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228600" y="4270248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2148840" y="4270248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700" b="0">
                <a:solidFill>
                  <a:srgbClr val="333333"/>
                </a:solidFill>
              </a:rPr>
              <a:t>Антон: РЭКИБ КП (result-app, handler-app, handler-risk-app), 15 чд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213872" y="4315968"/>
            <a:ext cx="2113836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РЭКИБ.КП.result-app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228600" y="4581144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2148840" y="4581144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Эрнест (UI): УЗ — виджет от КП (5 чд)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213872" y="4626864"/>
            <a:ext cx="498459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752331" y="4581144"/>
            <a:ext cx="103691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НЭР.виджет.PL (КП)</a:t>
            </a:r>
          </a:p>
        </p:txBody>
      </p:sp>
      <p:sp>
        <p:nvSpPr>
          <p:cNvPr id="85" name="Diamond 84"/>
          <p:cNvSpPr/>
          <p:nvPr/>
        </p:nvSpPr>
        <p:spPr>
          <a:xfrm>
            <a:off x="10005326" y="4663440"/>
            <a:ext cx="146304" cy="14630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151630" y="4581144"/>
            <a:ext cx="107691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финиш 13.09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228600" y="4892040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2148840" y="4892040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750" b="0">
                <a:solidFill>
                  <a:srgbClr val="333333"/>
                </a:solidFill>
              </a:rPr>
              <a:t>Аналитика (Дима): предконтроль модели CF перед отправкой на НЭР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136954" y="4937760"/>
            <a:ext cx="1036918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аналитика</a:t>
            </a:r>
          </a:p>
        </p:txBody>
      </p:sp>
      <p:sp>
        <p:nvSpPr>
          <p:cNvPr id="90" name="Diamond 89"/>
          <p:cNvSpPr/>
          <p:nvPr/>
        </p:nvSpPr>
        <p:spPr>
          <a:xfrm>
            <a:off x="7313031" y="4974336"/>
            <a:ext cx="146304" cy="146304"/>
          </a:xfrm>
          <a:prstGeom prst="diamond">
            <a:avLst/>
          </a:prstGeom>
          <a:solidFill>
            <a:srgbClr val="4CAF50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228600" y="5202936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2148840" y="5202936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700" b="0">
                <a:solidFill>
                  <a:srgbClr val="333333"/>
                </a:solidFill>
              </a:rPr>
              <a:t>Гоша: РЭКИБ РА (result-app, handler-app, handler-risk-app) — интегр…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752331" y="5248656"/>
            <a:ext cx="2113836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360381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РЭКИБ.РА.result-app</a:t>
            </a:r>
          </a:p>
        </p:txBody>
      </p:sp>
      <p:sp>
        <p:nvSpPr>
          <p:cNvPr id="94" name="Diamond 93"/>
          <p:cNvSpPr/>
          <p:nvPr/>
        </p:nvSpPr>
        <p:spPr>
          <a:xfrm>
            <a:off x="10543785" y="5285232"/>
            <a:ext cx="146304" cy="14630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>
            <a:off x="228600" y="5513832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2148840" y="5513832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 (Настя): ОКК (OCRED-25995)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060036" y="5559552"/>
            <a:ext cx="498459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360381" tIns="9000" bIns="9000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598495" y="5513832"/>
            <a:ext cx="2113836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</a:t>
            </a:r>
          </a:p>
        </p:txBody>
      </p:sp>
      <p:sp>
        <p:nvSpPr>
          <p:cNvPr id="99" name="Diamond 98"/>
          <p:cNvSpPr/>
          <p:nvPr/>
        </p:nvSpPr>
        <p:spPr>
          <a:xfrm>
            <a:off x="6236113" y="5596128"/>
            <a:ext cx="146304" cy="146304"/>
          </a:xfrm>
          <a:prstGeom prst="diamond">
            <a:avLst/>
          </a:prstGeom>
          <a:solidFill>
            <a:srgbClr val="4CAF50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28600" y="1161288"/>
            <a:ext cx="1920240" cy="93268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900" b="1">
                <a:solidFill>
                  <a:srgbClr val="333333"/>
                </a:solidFill>
              </a:rPr>
              <a:t>ARGUSRA-5286 Форма хронологии контрагента (периметр КГ)
(Дима (SDD); Максим, Таня (dev))
Сервисы: БФФ, Байкал5, ЕПК, ЦПС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28600" y="2093976"/>
            <a:ext cx="1920240" cy="124358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900" b="1">
                <a:solidFill>
                  <a:srgbClr val="333333"/>
                </a:solidFill>
              </a:rPr>
              <a:t>ARGUSRA-5499 Внедрение агентов ФЖН
(Егор (SDD); АЕФ, Даша, Таня (dev))
Сервисы: ЦПС, БФФ, РА, ЭКД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28600" y="3337560"/>
            <a:ext cx="1920240" cy="15544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900" b="1">
                <a:solidFill>
                  <a:srgbClr val="333333"/>
                </a:solidFill>
              </a:rPr>
              <a:t>ARGUSRA-5694 НЭР: предконтроль по рискам (СберФакторинг)
(Юля (SDD); Мурад, Антон, Миша, Эрнест (dev))
Сервисы: НЭР, РЭКИБ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28600" y="4892040"/>
            <a:ext cx="1920240" cy="62179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900" b="1">
                <a:solidFill>
                  <a:srgbClr val="333333"/>
                </a:solidFill>
              </a:rPr>
              <a:t>ARGUSRA-5695 НЭР: предконтроль модели CF
(Дима (SDD); Гоша (dev))
Сервисы: НЭР, ЭКД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28600" y="5513832"/>
            <a:ext cx="192024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700" b="1">
                <a:solidFill>
                  <a:srgbClr val="333333"/>
                </a:solidFill>
              </a:rPr>
              <a:t>ARGUSRA-5697 НЭР: внешние сервисы, принятие решения 26Q3
(Дима, Настя, Егор…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5770806" y="1161288"/>
            <a:ext cx="0" cy="4663440"/>
          </a:xfrm>
          <a:prstGeom prst="line">
            <a:avLst/>
          </a:prstGeom>
          <a:ln w="22225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Diamond 105"/>
          <p:cNvSpPr/>
          <p:nvPr/>
        </p:nvSpPr>
        <p:spPr>
          <a:xfrm>
            <a:off x="228600" y="5975604"/>
            <a:ext cx="118872" cy="118872"/>
          </a:xfrm>
          <a:prstGeom prst="diamond">
            <a:avLst/>
          </a:prstGeom>
          <a:solidFill>
            <a:srgbClr val="4CAF50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84048" y="5934456"/>
            <a:ext cx="1005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выполнено</a:t>
            </a:r>
          </a:p>
        </p:txBody>
      </p:sp>
      <p:sp>
        <p:nvSpPr>
          <p:cNvPr id="108" name="Diamond 107"/>
          <p:cNvSpPr/>
          <p:nvPr/>
        </p:nvSpPr>
        <p:spPr>
          <a:xfrm>
            <a:off x="1490472" y="5975604"/>
            <a:ext cx="118872" cy="11887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645920" y="5934456"/>
            <a:ext cx="1005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план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2752344" y="5975604"/>
            <a:ext cx="274320" cy="118872"/>
          </a:xfrm>
          <a:prstGeom prst="roundRect">
            <a:avLst/>
          </a:prstGeom>
          <a:solidFill>
            <a:srgbClr val="F5A623"/>
          </a:solidFill>
          <a:ln w="12700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063240" y="5934456"/>
            <a:ext cx="1005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работы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169664" y="5975604"/>
            <a:ext cx="274320" cy="118872"/>
          </a:xfrm>
          <a:prstGeom prst="roundRect">
            <a:avLst/>
          </a:prstGeom>
          <a:solidFill>
            <a:srgbClr val="BDD7EE"/>
          </a:solidFill>
          <a:ln w="127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480560" y="5934456"/>
            <a:ext cx="1005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586984" y="5975604"/>
            <a:ext cx="274320" cy="118872"/>
          </a:xfrm>
          <a:prstGeom prst="roundRect">
            <a:avLst/>
          </a:prstGeom>
          <a:solidFill>
            <a:srgbClr val="FBEAB6"/>
          </a:solidFill>
          <a:ln w="12700">
            <a:solidFill>
              <a:srgbClr val="E0C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897880" y="5934456"/>
            <a:ext cx="1005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оценка т/з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004304" y="5975604"/>
            <a:ext cx="274320" cy="118872"/>
          </a:xfrm>
          <a:prstGeom prst="roundRect">
            <a:avLst/>
          </a:prstGeom>
          <a:solidFill>
            <a:srgbClr val="FFF176"/>
          </a:solidFill>
          <a:ln w="12700">
            <a:solidFill>
              <a:srgbClr val="D4C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315200" y="5934456"/>
            <a:ext cx="1005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отпуск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73152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1800" b="1">
                <a:solidFill>
                  <a:srgbClr val="333333"/>
                </a:solidFill>
              </a:rPr>
              <a:t>Roadmap: план работ Q3 2026 (спринты 40–46) (2/4)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7543800" y="228600"/>
            <a:ext cx="4419295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r"/>
            <a:r>
              <a:rPr sz="1000" b="0">
                <a:solidFill>
                  <a:srgbClr val="4472C4"/>
                </a:solidFill>
              </a:rPr>
              <a:t>аналитика (SDD, голубой) + разработка (оранжевый), дорожки по ключам задач</a:t>
            </a:r>
          </a:p>
        </p:txBody>
      </p:sp>
      <p:sp>
        <p:nvSpPr>
          <p:cNvPr id="4" name="Rectangle 3"/>
          <p:cNvSpPr/>
          <p:nvPr/>
        </p:nvSpPr>
        <p:spPr>
          <a:xfrm>
            <a:off x="3886200" y="685800"/>
            <a:ext cx="1076918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Июнь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963118" y="685800"/>
            <a:ext cx="2153836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Июль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116954" y="685800"/>
            <a:ext cx="2692295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Август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09249" y="685800"/>
            <a:ext cx="2153836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Сентябрь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22-28</a:t>
            </a:r>
          </a:p>
        </p:txBody>
      </p:sp>
      <p:sp>
        <p:nvSpPr>
          <p:cNvPr id="9" name="Rectangle 8"/>
          <p:cNvSpPr/>
          <p:nvPr/>
        </p:nvSpPr>
        <p:spPr>
          <a:xfrm>
            <a:off x="4424659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29-05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63118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06-12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1577" y="941832"/>
            <a:ext cx="538459" cy="219456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13-19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40036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20-26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78495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27-02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16954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03-09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55413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10-16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872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17-23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331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24-30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70790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31-06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09249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07-13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47708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14-20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86167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21-27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24626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28-04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86200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24659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963118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501577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40036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78495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116954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55413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93872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732331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270790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809249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347708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886167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424626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963085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28600" y="1161288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148840" y="1161288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 (Дима): Топик МД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98495" y="1207008"/>
            <a:ext cx="498459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650" b="0">
                <a:solidFill>
                  <a:srgbClr val="333333"/>
                </a:solidFill>
              </a:rPr>
              <a:t>аналитика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28600" y="1472184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2148840" y="1472184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 (Егор): Профиль сотрудника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98495" y="1517904"/>
            <a:ext cx="1575377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аналитика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28600" y="1783080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148840" y="1783080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 (Егор): УФА (РА/Заключение), БКИ (РА)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13872" y="1828800"/>
            <a:ext cx="498459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650" b="0">
                <a:solidFill>
                  <a:srgbClr val="333333"/>
                </a:solidFill>
              </a:rPr>
              <a:t>аналитика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28600" y="2093976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2148840" y="2093976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 (Егор): БКИ (КП)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52331" y="2139696"/>
            <a:ext cx="498459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650" b="0">
                <a:solidFill>
                  <a:srgbClr val="333333"/>
                </a:solidFill>
              </a:rPr>
              <a:t>аналитика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28600" y="2404872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2148840" y="2404872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Максим: код ОКК по мониторингу клиента (3 ч/д)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060036" y="2450592"/>
            <a:ext cx="498459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ОКК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28600" y="2715768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2148840" y="2715768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Максим: фин. анализ УФА, +2 интеграции, маппинги (20 чд)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675413" y="2761488"/>
            <a:ext cx="2113836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НЭР.УФА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28600" y="3026664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2148840" y="3026664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Максим: ЕФС.ПР — переход на search/getProfile (3 ч/д)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829249" y="3072384"/>
            <a:ext cx="498459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ЕФС.ПР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228600" y="3337560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2148840" y="3337560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Максим: РЭКИБ.ЦПС — проверка использования search (3 ч/д)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367708" y="3383280"/>
            <a:ext cx="498459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360381" tIns="9000" bIns="9000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906167" y="3337560"/>
            <a:ext cx="103691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РЭКИБ.ЦПС.supplier</a:t>
            </a:r>
          </a:p>
        </p:txBody>
      </p:sp>
      <p:sp>
        <p:nvSpPr>
          <p:cNvPr id="64" name="Diamond 63"/>
          <p:cNvSpPr/>
          <p:nvPr/>
        </p:nvSpPr>
        <p:spPr>
          <a:xfrm>
            <a:off x="10543785" y="3419856"/>
            <a:ext cx="146304" cy="14630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228600" y="3648456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2148840" y="3648456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 (Настя): подключение ESG [SDD]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906200" y="3694176"/>
            <a:ext cx="2113836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аналитика</a:t>
            </a:r>
          </a:p>
        </p:txBody>
      </p:sp>
      <p:sp>
        <p:nvSpPr>
          <p:cNvPr id="68" name="Diamond 67"/>
          <p:cNvSpPr/>
          <p:nvPr/>
        </p:nvSpPr>
        <p:spPr>
          <a:xfrm>
            <a:off x="4082277" y="3730752"/>
            <a:ext cx="146304" cy="146304"/>
          </a:xfrm>
          <a:prstGeom prst="diamond">
            <a:avLst/>
          </a:prstGeom>
          <a:solidFill>
            <a:srgbClr val="4CAF50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228600" y="3959352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2148840" y="3959352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700" b="0">
                <a:solidFill>
                  <a:srgbClr val="333333"/>
                </a:solidFill>
              </a:rPr>
              <a:t>Антон: РЭКИБ КП (result-app, handler-app, handler-risk-app) — метри…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983118" y="4005072"/>
            <a:ext cx="1575377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650" b="0">
                <a:solidFill>
                  <a:srgbClr val="333333"/>
                </a:solidFill>
              </a:rPr>
              <a:t>РЭКИБ.КП.result-app / ЕФС.КП.BFF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228600" y="4270248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2148840" y="4270248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700" b="0">
                <a:solidFill>
                  <a:srgbClr val="333333"/>
                </a:solidFill>
              </a:rPr>
              <a:t>Гоша: РЭКИБ РА (result-app, handler-app, handler-risk-app) — новая …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060036" y="4315968"/>
            <a:ext cx="2113836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РЭКИБ.РА.result-app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228600" y="4581144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2148840" y="4581144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Эрнест (UI): подключение ESG (5 чд)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598495" y="4626864"/>
            <a:ext cx="1036918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НЭР.UI.PL (ESG)</a:t>
            </a:r>
          </a:p>
        </p:txBody>
      </p:sp>
      <p:sp>
        <p:nvSpPr>
          <p:cNvPr id="78" name="Diamond 77"/>
          <p:cNvSpPr/>
          <p:nvPr/>
        </p:nvSpPr>
        <p:spPr>
          <a:xfrm>
            <a:off x="7851490" y="4663440"/>
            <a:ext cx="146304" cy="14630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997794" y="4581144"/>
            <a:ext cx="107691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финиш 16.08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228600" y="4892040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2148840" y="4892040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 (Дима): Агент Хронологии (без Риск-ассистента)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444659" y="4937760"/>
            <a:ext cx="498459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650" b="0">
                <a:solidFill>
                  <a:srgbClr val="333333"/>
                </a:solidFill>
              </a:rPr>
              <a:t>аналитика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060036" y="4937760"/>
            <a:ext cx="498459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650" b="0">
                <a:solidFill>
                  <a:srgbClr val="333333"/>
                </a:solidFill>
              </a:rPr>
              <a:t>аналитика</a:t>
            </a:r>
          </a:p>
        </p:txBody>
      </p:sp>
      <p:sp>
        <p:nvSpPr>
          <p:cNvPr id="84" name="Diamond 83"/>
          <p:cNvSpPr/>
          <p:nvPr/>
        </p:nvSpPr>
        <p:spPr>
          <a:xfrm>
            <a:off x="4082277" y="4974336"/>
            <a:ext cx="146304" cy="146304"/>
          </a:xfrm>
          <a:prstGeom prst="diamond">
            <a:avLst/>
          </a:prstGeom>
          <a:solidFill>
            <a:srgbClr val="4CAF50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228600" y="5202936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2148840" y="5202936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Рим: хронология-БФФ, отдельный микросервис в ЦПС (10 чд)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906200" y="5248656"/>
            <a:ext cx="1036918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750" b="0">
                <a:solidFill>
                  <a:srgbClr val="333333"/>
                </a:solidFill>
              </a:rPr>
              <a:t>ЦПС.хронология.BFF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228600" y="5513832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2148840" y="5513832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АЕФ: 45 чд (оценка под вопросом)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060036" y="5559552"/>
            <a:ext cx="3729213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АЕФ 45 чд ?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28600" y="1161288"/>
            <a:ext cx="1920240" cy="248716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900" b="1">
                <a:solidFill>
                  <a:srgbClr val="333333"/>
                </a:solidFill>
              </a:rPr>
              <a:t>ARGUSRA-5697 НЭР: внешние сервисы, принятие решения 26Q3
(Дима, Настя, Егор (SDD); Максим (dev))
Сервисы: НЭР, УФА, ЕФС, ОКК, БКИ, РЭКИБ.ЦПС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28600" y="3648456"/>
            <a:ext cx="1920240" cy="124358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900" b="1">
                <a:solidFill>
                  <a:srgbClr val="333333"/>
                </a:solidFill>
              </a:rPr>
              <a:t>ARGUSRA-5698 НЭР: подключение ESG
(Настя (SDD); Антон, Гоша, Эрнест (dev))
Сервисы: НЭР, РЭКИБ, ЕФС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28600" y="4892040"/>
            <a:ext cx="1920240" cy="93268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900" b="1">
                <a:solidFill>
                  <a:srgbClr val="333333"/>
                </a:solidFill>
              </a:rPr>
              <a:t>ARGUSRA-5699 РА: агент по хронологии
(Дима (SDD); Рим, Даша, Таня, АЕФ (dev))
Сервисы: ЦПС, БФФ, ЕПК, AI-Hub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5770806" y="1161288"/>
            <a:ext cx="0" cy="4663440"/>
          </a:xfrm>
          <a:prstGeom prst="line">
            <a:avLst/>
          </a:prstGeom>
          <a:ln w="22225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Diamond 94"/>
          <p:cNvSpPr/>
          <p:nvPr/>
        </p:nvSpPr>
        <p:spPr>
          <a:xfrm>
            <a:off x="228600" y="5975604"/>
            <a:ext cx="118872" cy="118872"/>
          </a:xfrm>
          <a:prstGeom prst="diamond">
            <a:avLst/>
          </a:prstGeom>
          <a:solidFill>
            <a:srgbClr val="4CAF50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84048" y="5934456"/>
            <a:ext cx="1005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выполнено</a:t>
            </a:r>
          </a:p>
        </p:txBody>
      </p:sp>
      <p:sp>
        <p:nvSpPr>
          <p:cNvPr id="97" name="Diamond 96"/>
          <p:cNvSpPr/>
          <p:nvPr/>
        </p:nvSpPr>
        <p:spPr>
          <a:xfrm>
            <a:off x="1490472" y="5975604"/>
            <a:ext cx="118872" cy="11887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645920" y="5934456"/>
            <a:ext cx="1005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план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752344" y="5975604"/>
            <a:ext cx="274320" cy="118872"/>
          </a:xfrm>
          <a:prstGeom prst="roundRect">
            <a:avLst/>
          </a:prstGeom>
          <a:solidFill>
            <a:srgbClr val="F5A623"/>
          </a:solidFill>
          <a:ln w="12700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063240" y="5934456"/>
            <a:ext cx="1005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работы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169664" y="5975604"/>
            <a:ext cx="274320" cy="118872"/>
          </a:xfrm>
          <a:prstGeom prst="roundRect">
            <a:avLst/>
          </a:prstGeom>
          <a:solidFill>
            <a:srgbClr val="BDD7EE"/>
          </a:solidFill>
          <a:ln w="127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480560" y="5934456"/>
            <a:ext cx="1005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586984" y="5975604"/>
            <a:ext cx="274320" cy="118872"/>
          </a:xfrm>
          <a:prstGeom prst="roundRect">
            <a:avLst/>
          </a:prstGeom>
          <a:solidFill>
            <a:srgbClr val="FBEAB6"/>
          </a:solidFill>
          <a:ln w="12700">
            <a:solidFill>
              <a:srgbClr val="E0C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897880" y="5934456"/>
            <a:ext cx="1005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оценка т/з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004304" y="5975604"/>
            <a:ext cx="274320" cy="118872"/>
          </a:xfrm>
          <a:prstGeom prst="roundRect">
            <a:avLst/>
          </a:prstGeom>
          <a:solidFill>
            <a:srgbClr val="FFF176"/>
          </a:solidFill>
          <a:ln w="12700">
            <a:solidFill>
              <a:srgbClr val="D4C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315200" y="5934456"/>
            <a:ext cx="1005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отпуск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73152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1800" b="1">
                <a:solidFill>
                  <a:srgbClr val="333333"/>
                </a:solidFill>
              </a:rPr>
              <a:t>Roadmap: план работ Q3 2026 (спринты 40–46) (3/4)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7543800" y="228600"/>
            <a:ext cx="4419295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r"/>
            <a:r>
              <a:rPr sz="1000" b="0">
                <a:solidFill>
                  <a:srgbClr val="4472C4"/>
                </a:solidFill>
              </a:rPr>
              <a:t>аналитика (SDD, голубой) + разработка (оранжевый), дорожки по ключам задач</a:t>
            </a:r>
          </a:p>
        </p:txBody>
      </p:sp>
      <p:sp>
        <p:nvSpPr>
          <p:cNvPr id="4" name="Rectangle 3"/>
          <p:cNvSpPr/>
          <p:nvPr/>
        </p:nvSpPr>
        <p:spPr>
          <a:xfrm>
            <a:off x="3886200" y="685800"/>
            <a:ext cx="1076918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Июнь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963118" y="685800"/>
            <a:ext cx="2153836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Июль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116954" y="685800"/>
            <a:ext cx="2692295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Август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09249" y="685800"/>
            <a:ext cx="2153836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Сентябрь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22-28</a:t>
            </a:r>
          </a:p>
        </p:txBody>
      </p:sp>
      <p:sp>
        <p:nvSpPr>
          <p:cNvPr id="9" name="Rectangle 8"/>
          <p:cNvSpPr/>
          <p:nvPr/>
        </p:nvSpPr>
        <p:spPr>
          <a:xfrm>
            <a:off x="4424659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29-05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63118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06-12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1577" y="941832"/>
            <a:ext cx="538459" cy="219456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13-19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40036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20-26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78495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27-02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16954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03-09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55413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10-16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872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17-23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331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24-30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70790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31-06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09249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07-13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47708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14-20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86167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21-27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24626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28-04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86200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24659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963118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501577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40036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78495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116954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55413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93872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732331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270790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809249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347708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886167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424626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963085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28600" y="1161288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148840" y="1161288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Даша: ЕПК_id от UI → запрос в AI-Hub (5 чд)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36954" y="1207008"/>
            <a:ext cx="1036918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13872" y="1161288"/>
            <a:ext cx="2113836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РЭКИБ.РА.handler-app (AI-Hub)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28600" y="1472184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148840" y="1472184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700" b="0">
                <a:solidFill>
                  <a:srgbClr val="333333"/>
                </a:solidFill>
              </a:rPr>
              <a:t>Таня (UI): виджет «Хронология», плашки негативных событий (10 чд)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75413" y="1517904"/>
            <a:ext cx="2113836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360381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ЦПС.виджет.PL «Хронология»</a:t>
            </a:r>
          </a:p>
        </p:txBody>
      </p:sp>
      <p:sp>
        <p:nvSpPr>
          <p:cNvPr id="46" name="Diamond 45"/>
          <p:cNvSpPr/>
          <p:nvPr/>
        </p:nvSpPr>
        <p:spPr>
          <a:xfrm>
            <a:off x="9466867" y="1554480"/>
            <a:ext cx="146304" cy="14630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228600" y="1783080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2148840" y="1783080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 (Ульяна): ККА интеграция с СУДИР, 10 чд [SDD]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906200" y="1828800"/>
            <a:ext cx="1036918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аналитика</a:t>
            </a:r>
          </a:p>
        </p:txBody>
      </p:sp>
      <p:sp>
        <p:nvSpPr>
          <p:cNvPr id="50" name="Diamond 49"/>
          <p:cNvSpPr/>
          <p:nvPr/>
        </p:nvSpPr>
        <p:spPr>
          <a:xfrm>
            <a:off x="4082277" y="1865376"/>
            <a:ext cx="146304" cy="146304"/>
          </a:xfrm>
          <a:prstGeom prst="diamond">
            <a:avLst/>
          </a:prstGeom>
          <a:solidFill>
            <a:srgbClr val="4CAF50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228600" y="2093976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2148840" y="2093976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Мурад: интеграция (20 чд)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060036" y="2139696"/>
            <a:ext cx="2113836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360381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ККА.handler-app (СУДИР/REST)</a:t>
            </a:r>
          </a:p>
        </p:txBody>
      </p:sp>
      <p:sp>
        <p:nvSpPr>
          <p:cNvPr id="54" name="Diamond 53"/>
          <p:cNvSpPr/>
          <p:nvPr/>
        </p:nvSpPr>
        <p:spPr>
          <a:xfrm>
            <a:off x="7851490" y="2176272"/>
            <a:ext cx="146304" cy="14630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228600" y="2404872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2148840" y="2404872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 (Настя): Лимиты ОФР в ЦКП (ветка с откл. / МВП)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675413" y="2450592"/>
            <a:ext cx="1036918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аналитика</a:t>
            </a:r>
          </a:p>
        </p:txBody>
      </p:sp>
      <p:sp>
        <p:nvSpPr>
          <p:cNvPr id="58" name="Diamond 57"/>
          <p:cNvSpPr/>
          <p:nvPr/>
        </p:nvSpPr>
        <p:spPr>
          <a:xfrm>
            <a:off x="7851490" y="2487168"/>
            <a:ext cx="146304" cy="146304"/>
          </a:xfrm>
          <a:prstGeom prst="diamond">
            <a:avLst/>
          </a:prstGeom>
          <a:solidFill>
            <a:srgbClr val="4CAF50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228600" y="2715768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2148840" y="2715768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 (Настя): BEST OFFERS 4.0 — внедрение в ЦКП: ЦПС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752331" y="2761488"/>
            <a:ext cx="1036918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аналитика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228600" y="3026664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2148840" y="3026664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 (Юля): презентация по сделкам ПРПА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290790" y="3072384"/>
            <a:ext cx="1036918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аналитика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228600" y="3337560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2148840" y="3337560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Рим: ЦПС А, ОКК, суммаризация рисков, ПРПА, Сделки_ДЗО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752331" y="3383280"/>
            <a:ext cx="1575377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ЦКП.ЦПС.result-app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228600" y="3648456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2148840" y="3648456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Даша: ЦПС А, ОКК, суммаризация рисков, ПРПА, Сделки_ДЗО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752331" y="3694176"/>
            <a:ext cx="1575377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Риски.РА.result-app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228600" y="3959352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2148840" y="3959352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Таня (UI): фронт — ЦПС А, УЗ, Риски/РА, РМКИ-лизинг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829249" y="4005072"/>
            <a:ext cx="1036918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750" b="0">
                <a:solidFill>
                  <a:srgbClr val="333333"/>
                </a:solidFill>
              </a:rPr>
              <a:t>ЦКП.фронт.PL (ЦПС)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28600" y="4270248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2148840" y="4270248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Эрнест (UI): фронт — ЦПС А, УЗ, Риски/РА, РМКИ-лизинг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829249" y="4315968"/>
            <a:ext cx="1036918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360381" tIns="9000" bIns="9000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906167" y="4270248"/>
            <a:ext cx="103691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ЦКП.фронт.PL (УЗ)</a:t>
            </a:r>
          </a:p>
        </p:txBody>
      </p:sp>
      <p:sp>
        <p:nvSpPr>
          <p:cNvPr id="78" name="Diamond 77"/>
          <p:cNvSpPr/>
          <p:nvPr/>
        </p:nvSpPr>
        <p:spPr>
          <a:xfrm>
            <a:off x="10543785" y="4352544"/>
            <a:ext cx="146304" cy="14630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228600" y="4581144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2148840" y="4581144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 (Дима): комплектность перед НРЭ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906200" y="4626864"/>
            <a:ext cx="498459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650" b="0">
                <a:solidFill>
                  <a:srgbClr val="333333"/>
                </a:solidFill>
              </a:rPr>
              <a:t>аналитика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228600" y="4892040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2148840" y="4892040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700" b="0">
                <a:solidFill>
                  <a:srgbClr val="333333"/>
                </a:solidFill>
              </a:rPr>
              <a:t>Аналитика (Дима): Сделки_ДЗО — ПАЛ/ИР, откл. FR/ПБ, КО из РМКИ лизи…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213872" y="4937760"/>
            <a:ext cx="1575377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аналитика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228600" y="5202936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2148840" y="5202936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 (Настя): выход на КО по сделкам СБЛ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598495" y="5248656"/>
            <a:ext cx="498459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650" b="0">
                <a:solidFill>
                  <a:srgbClr val="333333"/>
                </a:solidFill>
              </a:rPr>
              <a:t>аналитика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228600" y="5513832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2148840" y="5513832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 (Юля): доработка новых метрик по фин. риску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906200" y="5559552"/>
            <a:ext cx="498459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650" b="0">
                <a:solidFill>
                  <a:srgbClr val="333333"/>
                </a:solidFill>
              </a:rPr>
              <a:t>аналитика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28600" y="1161288"/>
            <a:ext cx="1920240" cy="62179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900" b="1">
                <a:solidFill>
                  <a:srgbClr val="333333"/>
                </a:solidFill>
              </a:rPr>
              <a:t>ARGUSRA-5699 РА: агент по хронологии
(Дима (SDD); Рим, Даша, Таня, АЕФ (dev))
Сервисы: ЦПС, БФФ, ЕПК, AI-Hub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28600" y="1783080"/>
            <a:ext cx="1920240" cy="62179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900" b="1">
                <a:solidFill>
                  <a:srgbClr val="333333"/>
                </a:solidFill>
              </a:rPr>
              <a:t>ARGUSRA-5715 ККА: интеграция с СУДИР (отказ от SOAP)
(Ульяна (SDD); Мурад (dev))
Сервисы: ККА, СУДИР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28600" y="2404872"/>
            <a:ext cx="1920240" cy="217627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900" b="1">
                <a:solidFill>
                  <a:srgbClr val="333333"/>
                </a:solidFill>
              </a:rPr>
              <a:t>ARGUSRA-5724 ЦКП [BEST OFFERS 4.0]
(Настя, Юля (SDD); Рим, Даша, Таня, Эрнест (dev))
Сервисы: ЦКП, ЦПС, ОКК, РМКИ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28600" y="4581144"/>
            <a:ext cx="1920240" cy="124358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900" b="1">
                <a:solidFill>
                  <a:srgbClr val="333333"/>
                </a:solidFill>
              </a:rPr>
              <a:t>Задачи вне тикетов (аналитика + разработка)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5770806" y="1161288"/>
            <a:ext cx="0" cy="4663440"/>
          </a:xfrm>
          <a:prstGeom prst="line">
            <a:avLst/>
          </a:prstGeom>
          <a:ln w="22225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Diamond 95"/>
          <p:cNvSpPr/>
          <p:nvPr/>
        </p:nvSpPr>
        <p:spPr>
          <a:xfrm>
            <a:off x="228600" y="5975604"/>
            <a:ext cx="118872" cy="118872"/>
          </a:xfrm>
          <a:prstGeom prst="diamond">
            <a:avLst/>
          </a:prstGeom>
          <a:solidFill>
            <a:srgbClr val="4CAF50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84048" y="5934456"/>
            <a:ext cx="1005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выполнено</a:t>
            </a:r>
          </a:p>
        </p:txBody>
      </p:sp>
      <p:sp>
        <p:nvSpPr>
          <p:cNvPr id="98" name="Diamond 97"/>
          <p:cNvSpPr/>
          <p:nvPr/>
        </p:nvSpPr>
        <p:spPr>
          <a:xfrm>
            <a:off x="1490472" y="5975604"/>
            <a:ext cx="118872" cy="11887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645920" y="5934456"/>
            <a:ext cx="1005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план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752344" y="5975604"/>
            <a:ext cx="274320" cy="118872"/>
          </a:xfrm>
          <a:prstGeom prst="roundRect">
            <a:avLst/>
          </a:prstGeom>
          <a:solidFill>
            <a:srgbClr val="F5A623"/>
          </a:solidFill>
          <a:ln w="12700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063240" y="5934456"/>
            <a:ext cx="1005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работы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169664" y="5975604"/>
            <a:ext cx="274320" cy="118872"/>
          </a:xfrm>
          <a:prstGeom prst="roundRect">
            <a:avLst/>
          </a:prstGeom>
          <a:solidFill>
            <a:srgbClr val="BDD7EE"/>
          </a:solidFill>
          <a:ln w="127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480560" y="5934456"/>
            <a:ext cx="1005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586984" y="5975604"/>
            <a:ext cx="274320" cy="118872"/>
          </a:xfrm>
          <a:prstGeom prst="roundRect">
            <a:avLst/>
          </a:prstGeom>
          <a:solidFill>
            <a:srgbClr val="FBEAB6"/>
          </a:solidFill>
          <a:ln w="12700">
            <a:solidFill>
              <a:srgbClr val="E0C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897880" y="5934456"/>
            <a:ext cx="1005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оценка т/з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004304" y="5975604"/>
            <a:ext cx="274320" cy="118872"/>
          </a:xfrm>
          <a:prstGeom prst="roundRect">
            <a:avLst/>
          </a:prstGeom>
          <a:solidFill>
            <a:srgbClr val="FFF176"/>
          </a:solidFill>
          <a:ln w="12700">
            <a:solidFill>
              <a:srgbClr val="D4C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315200" y="5934456"/>
            <a:ext cx="1005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отпуск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73152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1800" b="1">
                <a:solidFill>
                  <a:srgbClr val="333333"/>
                </a:solidFill>
              </a:rPr>
              <a:t>Roadmap: план работ Q3 2026 (спринты 40–46) (4/4)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7543800" y="228600"/>
            <a:ext cx="4419295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r"/>
            <a:r>
              <a:rPr sz="1000" b="0">
                <a:solidFill>
                  <a:srgbClr val="4472C4"/>
                </a:solidFill>
              </a:rPr>
              <a:t>аналитика (SDD, голубой) + разработка (оранжевый), дорожки по ключам задач</a:t>
            </a:r>
          </a:p>
        </p:txBody>
      </p:sp>
      <p:sp>
        <p:nvSpPr>
          <p:cNvPr id="4" name="Rectangle 3"/>
          <p:cNvSpPr/>
          <p:nvPr/>
        </p:nvSpPr>
        <p:spPr>
          <a:xfrm>
            <a:off x="3886200" y="685800"/>
            <a:ext cx="1076918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Июнь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963118" y="685800"/>
            <a:ext cx="2153836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Июль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116954" y="685800"/>
            <a:ext cx="2692295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Август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09249" y="685800"/>
            <a:ext cx="2153836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Сентябрь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22-28</a:t>
            </a:r>
          </a:p>
        </p:txBody>
      </p:sp>
      <p:sp>
        <p:nvSpPr>
          <p:cNvPr id="9" name="Rectangle 8"/>
          <p:cNvSpPr/>
          <p:nvPr/>
        </p:nvSpPr>
        <p:spPr>
          <a:xfrm>
            <a:off x="4424659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29-05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63118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06-12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1577" y="941832"/>
            <a:ext cx="538459" cy="219456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13-19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40036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20-26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78495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27-02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16954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03-09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55413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10-16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872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17-23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331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24-30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70790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31-06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09249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07-13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47708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14-20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86167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21-27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24626" y="941832"/>
            <a:ext cx="53845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28-04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86200" y="1161288"/>
            <a:ext cx="0" cy="217627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24659" y="1161288"/>
            <a:ext cx="0" cy="217627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963118" y="1161288"/>
            <a:ext cx="0" cy="217627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501577" y="1161288"/>
            <a:ext cx="0" cy="217627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40036" y="1161288"/>
            <a:ext cx="0" cy="217627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78495" y="1161288"/>
            <a:ext cx="0" cy="217627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116954" y="1161288"/>
            <a:ext cx="0" cy="217627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55413" y="1161288"/>
            <a:ext cx="0" cy="217627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93872" y="1161288"/>
            <a:ext cx="0" cy="217627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732331" y="1161288"/>
            <a:ext cx="0" cy="217627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270790" y="1161288"/>
            <a:ext cx="0" cy="217627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809249" y="1161288"/>
            <a:ext cx="0" cy="217627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347708" y="1161288"/>
            <a:ext cx="0" cy="217627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886167" y="1161288"/>
            <a:ext cx="0" cy="217627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424626" y="1161288"/>
            <a:ext cx="0" cy="217627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963085" y="1161288"/>
            <a:ext cx="0" cy="217627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28600" y="1161288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148840" y="1161288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700" b="0">
                <a:solidFill>
                  <a:srgbClr val="333333"/>
                </a:solidFill>
              </a:rPr>
              <a:t>Аналитика (Егор): гарант. доставка событий аудита AI Risk HUB; пере…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44659" y="1207008"/>
            <a:ext cx="498459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650" b="0">
                <a:solidFill>
                  <a:srgbClr val="333333"/>
                </a:solidFill>
              </a:rPr>
              <a:t>аналитика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98495" y="1207008"/>
            <a:ext cx="498459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650" b="0">
                <a:solidFill>
                  <a:srgbClr val="333333"/>
                </a:solidFill>
              </a:rPr>
              <a:t>аналитика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28600" y="1472184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148840" y="1472184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Рим: Deployment ДА (SberApi); архдефект API-REST-17-5 (3 чд)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44659" y="1517904"/>
            <a:ext cx="498459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SberApi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83118" y="1517904"/>
            <a:ext cx="498459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650" b="0">
                <a:solidFill>
                  <a:srgbClr val="333333"/>
                </a:solidFill>
              </a:rPr>
              <a:t>архдефект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28600" y="1783080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2148840" y="1783080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Рим: Сделки_ДЗО — выход на КО</a:t>
            </a:r>
          </a:p>
        </p:txBody>
      </p:sp>
      <p:sp>
        <p:nvSpPr>
          <p:cNvPr id="49" name="Diamond 48"/>
          <p:cNvSpPr/>
          <p:nvPr/>
        </p:nvSpPr>
        <p:spPr>
          <a:xfrm>
            <a:off x="7851490" y="1865376"/>
            <a:ext cx="146304" cy="14630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997794" y="1783080"/>
            <a:ext cx="1076918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Выход на КО по сделкам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28600" y="2093976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2148840" y="2093976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Рим: Сделки_ДЗО — утилизация сделок с ПАЛ/ИР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13872" y="2139696"/>
            <a:ext cx="498459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ПАЛ/ИР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28600" y="2404872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2148840" y="2404872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700" b="0">
                <a:solidFill>
                  <a:srgbClr val="333333"/>
                </a:solidFill>
              </a:rPr>
              <a:t>Даша: откл. РЭКИБ.Flow (3 ч/д); дефолтная реструктуризация (4 чд); …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906200" y="2450592"/>
            <a:ext cx="498459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Flow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444659" y="2450592"/>
            <a:ext cx="498459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рестр.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983118" y="2450592"/>
            <a:ext cx="498459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скрытие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28600" y="2715768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2148840" y="2715768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700" b="0">
                <a:solidFill>
                  <a:srgbClr val="333333"/>
                </a:solidFill>
              </a:rPr>
              <a:t>Максим: таймауты REST + дестр. тест (4 чд); ретро-анализ кластера (…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906200" y="2761488"/>
            <a:ext cx="498459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REST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444659" y="2761488"/>
            <a:ext cx="498459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ретро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228600" y="3026664"/>
            <a:ext cx="11734485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2148840" y="3026664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700" b="0">
                <a:solidFill>
                  <a:srgbClr val="333333"/>
                </a:solidFill>
              </a:rPr>
              <a:t>Миша: SDD+скилл; комплектность НЭР; БИТЛ/Кафка/DropAPP; пакетная за…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906200" y="3072384"/>
            <a:ext cx="498459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SDD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444659" y="3072384"/>
            <a:ext cx="498459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НЭР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983118" y="3072384"/>
            <a:ext cx="498459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БИТЛ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521577" y="3072384"/>
            <a:ext cx="498459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750" b="0">
                <a:solidFill>
                  <a:srgbClr val="333333"/>
                </a:solidFill>
              </a:rPr>
              <a:t>пакетная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8600" y="1161288"/>
            <a:ext cx="1920240" cy="217627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900" b="1">
                <a:solidFill>
                  <a:srgbClr val="333333"/>
                </a:solidFill>
              </a:rPr>
              <a:t>Задачи вне тикетов (аналитика + разработка)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770806" y="1161288"/>
            <a:ext cx="0" cy="2176272"/>
          </a:xfrm>
          <a:prstGeom prst="line">
            <a:avLst/>
          </a:prstGeom>
          <a:ln w="22225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Diamond 70"/>
          <p:cNvSpPr/>
          <p:nvPr/>
        </p:nvSpPr>
        <p:spPr>
          <a:xfrm>
            <a:off x="228600" y="3488436"/>
            <a:ext cx="118872" cy="118872"/>
          </a:xfrm>
          <a:prstGeom prst="diamond">
            <a:avLst/>
          </a:prstGeom>
          <a:solidFill>
            <a:srgbClr val="4CAF50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84048" y="3447288"/>
            <a:ext cx="1005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выполнено</a:t>
            </a:r>
          </a:p>
        </p:txBody>
      </p:sp>
      <p:sp>
        <p:nvSpPr>
          <p:cNvPr id="73" name="Diamond 72"/>
          <p:cNvSpPr/>
          <p:nvPr/>
        </p:nvSpPr>
        <p:spPr>
          <a:xfrm>
            <a:off x="1490472" y="3488436"/>
            <a:ext cx="118872" cy="11887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645920" y="3447288"/>
            <a:ext cx="1005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план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752344" y="3488436"/>
            <a:ext cx="274320" cy="118872"/>
          </a:xfrm>
          <a:prstGeom prst="roundRect">
            <a:avLst/>
          </a:prstGeom>
          <a:solidFill>
            <a:srgbClr val="F5A623"/>
          </a:solidFill>
          <a:ln w="12700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063240" y="3447288"/>
            <a:ext cx="1005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работы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169664" y="3488436"/>
            <a:ext cx="274320" cy="118872"/>
          </a:xfrm>
          <a:prstGeom prst="roundRect">
            <a:avLst/>
          </a:prstGeom>
          <a:solidFill>
            <a:srgbClr val="BDD7EE"/>
          </a:solidFill>
          <a:ln w="127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480560" y="3447288"/>
            <a:ext cx="1005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586984" y="3488436"/>
            <a:ext cx="274320" cy="118872"/>
          </a:xfrm>
          <a:prstGeom prst="roundRect">
            <a:avLst/>
          </a:prstGeom>
          <a:solidFill>
            <a:srgbClr val="FBEAB6"/>
          </a:solidFill>
          <a:ln w="12700">
            <a:solidFill>
              <a:srgbClr val="E0C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897880" y="3447288"/>
            <a:ext cx="1005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оценка т/з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004304" y="3488436"/>
            <a:ext cx="274320" cy="118872"/>
          </a:xfrm>
          <a:prstGeom prst="roundRect">
            <a:avLst/>
          </a:prstGeom>
          <a:solidFill>
            <a:srgbClr val="FFF176"/>
          </a:solidFill>
          <a:ln w="12700">
            <a:solidFill>
              <a:srgbClr val="D4C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447288"/>
            <a:ext cx="10058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отпуск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