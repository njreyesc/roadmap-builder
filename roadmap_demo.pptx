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73152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1800" b="1">
                <a:solidFill>
                  <a:srgbClr val="333333"/>
                </a:solidFill>
              </a:rPr>
              <a:t>Roadmap: Агентская платформа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543800" y="228600"/>
            <a:ext cx="4419295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r"/>
            <a:r>
              <a:rPr sz="1000" b="0">
                <a:solidFill>
                  <a:srgbClr val="4472C4"/>
                </a:solidFill>
              </a:rPr>
              <a:t>MPV — синий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3886200" y="685800"/>
            <a:ext cx="2485196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Август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6371396" y="685800"/>
            <a:ext cx="3106495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Сентябрь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477891" y="685800"/>
            <a:ext cx="2485196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Октябрь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6200" y="941832"/>
            <a:ext cx="62129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04-10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07499" y="941832"/>
            <a:ext cx="621299" cy="219456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11-17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8798" y="941832"/>
            <a:ext cx="62129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18-24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50097" y="941832"/>
            <a:ext cx="62129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25-31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1396" y="941832"/>
            <a:ext cx="62129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01-07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92695" y="941832"/>
            <a:ext cx="62129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08-14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13994" y="941832"/>
            <a:ext cx="62129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15-21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35293" y="941832"/>
            <a:ext cx="62129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22-28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56592" y="941832"/>
            <a:ext cx="62129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29-05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77891" y="941832"/>
            <a:ext cx="62129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06-12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99190" y="941832"/>
            <a:ext cx="62129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13-19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20489" y="941832"/>
            <a:ext cx="62129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20-26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341788" y="941832"/>
            <a:ext cx="62129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27-02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86200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07499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28798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50097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371396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92695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13994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235293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856592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477891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099190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720489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341788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963087" y="1161288"/>
            <a:ext cx="0" cy="466344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8600" y="1161288"/>
            <a:ext cx="1173448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148840" y="1161288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Подготовлен драфт</a:t>
            </a:r>
          </a:p>
        </p:txBody>
      </p:sp>
      <p:sp>
        <p:nvSpPr>
          <p:cNvPr id="36" name="Diamond 35"/>
          <p:cNvSpPr/>
          <p:nvPr/>
        </p:nvSpPr>
        <p:spPr>
          <a:xfrm>
            <a:off x="4123697" y="1243584"/>
            <a:ext cx="146304" cy="146304"/>
          </a:xfrm>
          <a:prstGeom prst="diamond">
            <a:avLst/>
          </a:prstGeom>
          <a:solidFill>
            <a:srgbClr val="4CAF50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228600" y="1472184"/>
            <a:ext cx="1173448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148840" y="1472184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CTL</a:t>
            </a:r>
          </a:p>
        </p:txBody>
      </p:sp>
      <p:sp>
        <p:nvSpPr>
          <p:cNvPr id="39" name="Diamond 38"/>
          <p:cNvSpPr/>
          <p:nvPr/>
        </p:nvSpPr>
        <p:spPr>
          <a:xfrm>
            <a:off x="4744996" y="1554480"/>
            <a:ext cx="146304" cy="146304"/>
          </a:xfrm>
          <a:prstGeom prst="diamond">
            <a:avLst/>
          </a:prstGeom>
          <a:solidFill>
            <a:srgbClr val="4CAF50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228600" y="1783080"/>
            <a:ext cx="1173448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2148840" y="1783080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Фронт и СберЧат</a:t>
            </a:r>
          </a:p>
        </p:txBody>
      </p:sp>
      <p:sp>
        <p:nvSpPr>
          <p:cNvPr id="42" name="Diamond 41"/>
          <p:cNvSpPr/>
          <p:nvPr/>
        </p:nvSpPr>
        <p:spPr>
          <a:xfrm>
            <a:off x="4744996" y="1865376"/>
            <a:ext cx="146304" cy="146304"/>
          </a:xfrm>
          <a:prstGeom prst="diamond">
            <a:avLst/>
          </a:prstGeom>
          <a:solidFill>
            <a:srgbClr val="4CAF50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228600" y="2093976"/>
            <a:ext cx="1173448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148840" y="2093976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ClickHouse: безы ОК, ДКА</a:t>
            </a:r>
          </a:p>
        </p:txBody>
      </p:sp>
      <p:sp>
        <p:nvSpPr>
          <p:cNvPr id="45" name="Diamond 44"/>
          <p:cNvSpPr/>
          <p:nvPr/>
        </p:nvSpPr>
        <p:spPr>
          <a:xfrm>
            <a:off x="4744996" y="2176272"/>
            <a:ext cx="146304" cy="146304"/>
          </a:xfrm>
          <a:prstGeom prst="diamond">
            <a:avLst/>
          </a:prstGeom>
          <a:solidFill>
            <a:srgbClr val="4CAF50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148798" y="2139696"/>
            <a:ext cx="581299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Согласование</a:t>
            </a:r>
          </a:p>
        </p:txBody>
      </p:sp>
      <p:sp>
        <p:nvSpPr>
          <p:cNvPr id="47" name="Diamond 46"/>
          <p:cNvSpPr/>
          <p:nvPr/>
        </p:nvSpPr>
        <p:spPr>
          <a:xfrm>
            <a:off x="5987594" y="2176272"/>
            <a:ext cx="146304" cy="14630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228600" y="2404872"/>
            <a:ext cx="1173448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2148840" y="2404872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ЛДБР: ДКА</a:t>
            </a:r>
          </a:p>
        </p:txBody>
      </p:sp>
      <p:sp>
        <p:nvSpPr>
          <p:cNvPr id="50" name="Diamond 49"/>
          <p:cNvSpPr/>
          <p:nvPr/>
        </p:nvSpPr>
        <p:spPr>
          <a:xfrm>
            <a:off x="4744996" y="2487168"/>
            <a:ext cx="146304" cy="146304"/>
          </a:xfrm>
          <a:prstGeom prst="diamond">
            <a:avLst/>
          </a:prstGeom>
          <a:solidFill>
            <a:srgbClr val="4CAF50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228600" y="2715768"/>
            <a:ext cx="1173448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2148840" y="2715768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IDP</a:t>
            </a:r>
          </a:p>
        </p:txBody>
      </p:sp>
      <p:sp>
        <p:nvSpPr>
          <p:cNvPr id="53" name="Diamond 52"/>
          <p:cNvSpPr/>
          <p:nvPr/>
        </p:nvSpPr>
        <p:spPr>
          <a:xfrm>
            <a:off x="6608893" y="2798064"/>
            <a:ext cx="146304" cy="14630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992695" y="2743200"/>
            <a:ext cx="2485196" cy="256032"/>
          </a:xfrm>
          <a:prstGeom prst="roundRect">
            <a:avLst/>
          </a:prstGeom>
          <a:solidFill>
            <a:srgbClr val="DDEBF7"/>
          </a:solidFill>
          <a:ln w="9525">
            <a:solidFill>
              <a:srgbClr val="6FA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Зависит от итогов Гембы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28600" y="3026664"/>
            <a:ext cx="1173448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2148840" y="3026664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От разработки до ПРОМ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906200" y="3072384"/>
            <a:ext cx="581299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Сборки</a:t>
            </a:r>
          </a:p>
        </p:txBody>
      </p:sp>
      <p:sp>
        <p:nvSpPr>
          <p:cNvPr id="58" name="Diamond 57"/>
          <p:cNvSpPr/>
          <p:nvPr/>
        </p:nvSpPr>
        <p:spPr>
          <a:xfrm>
            <a:off x="4744996" y="3108960"/>
            <a:ext cx="146304" cy="146304"/>
          </a:xfrm>
          <a:prstGeom prst="diamond">
            <a:avLst/>
          </a:prstGeom>
          <a:solidFill>
            <a:srgbClr val="4CAF50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148798" y="3072384"/>
            <a:ext cx="581299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Тест</a:t>
            </a:r>
          </a:p>
        </p:txBody>
      </p:sp>
      <p:sp>
        <p:nvSpPr>
          <p:cNvPr id="60" name="Diamond 59"/>
          <p:cNvSpPr/>
          <p:nvPr/>
        </p:nvSpPr>
        <p:spPr>
          <a:xfrm>
            <a:off x="5987594" y="3108960"/>
            <a:ext cx="146304" cy="14630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228600" y="3337560"/>
            <a:ext cx="1173448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148840" y="3337560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По расписанию (оценка т/з)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148798" y="3383280"/>
            <a:ext cx="4930392" cy="219456"/>
          </a:xfrm>
          <a:prstGeom prst="roundRect">
            <a:avLst/>
          </a:prstGeom>
          <a:solidFill>
            <a:srgbClr val="FBEAB6"/>
          </a:solidFill>
          <a:ln w="9525">
            <a:solidFill>
              <a:srgbClr val="E0C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6 спринтов 2 ше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28600" y="3648456"/>
            <a:ext cx="1173448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2148840" y="3648456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С параметрами (оценка т/з)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148798" y="3694176"/>
            <a:ext cx="4930392" cy="219456"/>
          </a:xfrm>
          <a:prstGeom prst="roundRect">
            <a:avLst/>
          </a:prstGeom>
          <a:solidFill>
            <a:srgbClr val="FBEAB6"/>
          </a:solidFill>
          <a:ln w="9525">
            <a:solidFill>
              <a:srgbClr val="E0C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6 спринтов 2 ше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28600" y="3959352"/>
            <a:ext cx="1173448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2148840" y="3959352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Оба варианта (оценка т/з)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148798" y="4005072"/>
            <a:ext cx="6172990" cy="219456"/>
          </a:xfrm>
          <a:prstGeom prst="roundRect">
            <a:avLst/>
          </a:prstGeom>
          <a:solidFill>
            <a:srgbClr val="FBEAB6"/>
          </a:solidFill>
          <a:ln w="9525">
            <a:solidFill>
              <a:srgbClr val="E0C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8 спринтов 2 ше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28600" y="4270248"/>
            <a:ext cx="1173448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2148840" y="4270248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Ответ на почту (оценка т/з)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148798" y="4315968"/>
            <a:ext cx="4309093" cy="219456"/>
          </a:xfrm>
          <a:prstGeom prst="roundRect">
            <a:avLst/>
          </a:prstGeom>
          <a:solidFill>
            <a:srgbClr val="FBEAB6"/>
          </a:solidFill>
          <a:ln w="9525">
            <a:solidFill>
              <a:srgbClr val="E0C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6 спринтов 2 ше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228600" y="4581144"/>
            <a:ext cx="1173448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2148840" y="4581144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Базовые требования</a:t>
            </a:r>
          </a:p>
        </p:txBody>
      </p:sp>
      <p:sp>
        <p:nvSpPr>
          <p:cNvPr id="75" name="Diamond 74"/>
          <p:cNvSpPr/>
          <p:nvPr/>
        </p:nvSpPr>
        <p:spPr>
          <a:xfrm>
            <a:off x="4123697" y="4663440"/>
            <a:ext cx="146304" cy="146304"/>
          </a:xfrm>
          <a:prstGeom prst="diamond">
            <a:avLst/>
          </a:prstGeom>
          <a:solidFill>
            <a:srgbClr val="4CAF50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5128798" y="4608576"/>
            <a:ext cx="2485196" cy="256032"/>
          </a:xfrm>
          <a:prstGeom prst="roundRect">
            <a:avLst/>
          </a:prstGeom>
          <a:solidFill>
            <a:srgbClr val="DDEBF7"/>
          </a:solidFill>
          <a:ln w="9525">
            <a:solidFill>
              <a:srgbClr val="6FA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При текущих вводных требования стандартные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28600" y="4892040"/>
            <a:ext cx="1173448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2148840" y="4892040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CTL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770097" y="4937760"/>
            <a:ext cx="2445196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4 спринта 2 ше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228600" y="5202936"/>
            <a:ext cx="1173448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2148840" y="5202936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СберЧат / собственный (оценка т/з)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770097" y="5248656"/>
            <a:ext cx="4930392" cy="219456"/>
          </a:xfrm>
          <a:prstGeom prst="roundRect">
            <a:avLst/>
          </a:prstGeom>
          <a:solidFill>
            <a:srgbClr val="FBEAB6"/>
          </a:solidFill>
          <a:ln w="9525">
            <a:solidFill>
              <a:srgbClr val="E0C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8 спринтов 2 ше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228600" y="5513832"/>
            <a:ext cx="1173448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2148840" y="5513832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ClickHouse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770097" y="5559552"/>
            <a:ext cx="2445196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4 спринта 2 ше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8600" y="1161288"/>
            <a:ext cx="1920240" cy="186537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КАФО агента (Интеграция, взаимодействие)
(Д. Шатыр)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28600" y="3026664"/>
            <a:ext cx="192024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Hello world [Python]
(С. Славский)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" y="3337560"/>
            <a:ext cx="1920240" cy="93268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Требования к агентам. Способы вызова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4270248"/>
            <a:ext cx="192024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Требования к агентам. Варианты ответов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8600" y="4581144"/>
            <a:ext cx="192024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DevOps
(Е. Макаров)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8600" y="4892040"/>
            <a:ext cx="1920240" cy="93268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Интеграция
(С. Славский ?)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4818148" y="685800"/>
            <a:ext cx="0" cy="5138928"/>
          </a:xfrm>
          <a:prstGeom prst="line">
            <a:avLst/>
          </a:prstGeom>
          <a:ln w="22225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228600" y="5934456"/>
            <a:ext cx="13716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4CAF50"/>
                </a:solidFill>
              </a:rPr>
              <a:t>◆ выполнено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45920" y="5934456"/>
            <a:ext cx="13716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E53935"/>
                </a:solidFill>
              </a:rPr>
              <a:t>◇ план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063240" y="5934456"/>
            <a:ext cx="13716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F5A623"/>
                </a:solidFill>
              </a:rPr>
              <a:t>▬ работы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480560" y="5934456"/>
            <a:ext cx="13716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FBEAB6"/>
                </a:solidFill>
              </a:rPr>
              <a:t>▬ оценка т/з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897880" y="5934456"/>
            <a:ext cx="13716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FFF176"/>
                </a:solidFill>
              </a:rPr>
              <a:t>▬ отпуск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73152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1800" b="1">
                <a:solidFill>
                  <a:srgbClr val="333333"/>
                </a:solidFill>
              </a:rPr>
              <a:t>Roadmap: Агентская платформа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543800" y="228600"/>
            <a:ext cx="4419295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r"/>
            <a:r>
              <a:rPr sz="1000" b="0">
                <a:solidFill>
                  <a:srgbClr val="4472C4"/>
                </a:solidFill>
              </a:rPr>
              <a:t>MPV — синий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3886200" y="685800"/>
            <a:ext cx="2485196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Август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6371396" y="685800"/>
            <a:ext cx="3106495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Сентябрь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477891" y="685800"/>
            <a:ext cx="2485196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Октябрь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6200" y="941832"/>
            <a:ext cx="62129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04-10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07499" y="941832"/>
            <a:ext cx="621299" cy="219456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11-17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8798" y="941832"/>
            <a:ext cx="62129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18-24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50097" y="941832"/>
            <a:ext cx="62129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25-31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1396" y="941832"/>
            <a:ext cx="62129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01-07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92695" y="941832"/>
            <a:ext cx="62129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08-14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13994" y="941832"/>
            <a:ext cx="62129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15-21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35293" y="941832"/>
            <a:ext cx="62129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22-28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56592" y="941832"/>
            <a:ext cx="62129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29-05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77891" y="941832"/>
            <a:ext cx="62129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06-12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99190" y="941832"/>
            <a:ext cx="62129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13-19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20489" y="941832"/>
            <a:ext cx="62129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20-26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341788" y="941832"/>
            <a:ext cx="621299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27-02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86200" y="1161288"/>
            <a:ext cx="0" cy="1243584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07499" y="1161288"/>
            <a:ext cx="0" cy="1243584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28798" y="1161288"/>
            <a:ext cx="0" cy="1243584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50097" y="1161288"/>
            <a:ext cx="0" cy="1243584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371396" y="1161288"/>
            <a:ext cx="0" cy="1243584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92695" y="1161288"/>
            <a:ext cx="0" cy="1243584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13994" y="1161288"/>
            <a:ext cx="0" cy="1243584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235293" y="1161288"/>
            <a:ext cx="0" cy="1243584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856592" y="1161288"/>
            <a:ext cx="0" cy="1243584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477891" y="1161288"/>
            <a:ext cx="0" cy="1243584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099190" y="1161288"/>
            <a:ext cx="0" cy="1243584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720489" y="1161288"/>
            <a:ext cx="0" cy="1243584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341788" y="1161288"/>
            <a:ext cx="0" cy="1243584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963087" y="1161288"/>
            <a:ext cx="0" cy="1243584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8600" y="1161288"/>
            <a:ext cx="1173448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148840" y="1161288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Встреча-Гемба — 20.08.2025</a:t>
            </a:r>
          </a:p>
        </p:txBody>
      </p:sp>
      <p:sp>
        <p:nvSpPr>
          <p:cNvPr id="36" name="Diamond 35"/>
          <p:cNvSpPr/>
          <p:nvPr/>
        </p:nvSpPr>
        <p:spPr>
          <a:xfrm>
            <a:off x="5366295" y="1243584"/>
            <a:ext cx="146304" cy="14630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228600" y="1472184"/>
            <a:ext cx="1173448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148840" y="1472184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Интеграция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50097" y="1499616"/>
            <a:ext cx="2485196" cy="256032"/>
          </a:xfrm>
          <a:prstGeom prst="roundRect">
            <a:avLst/>
          </a:prstGeom>
          <a:solidFill>
            <a:srgbClr val="DDEBF7"/>
          </a:solidFill>
          <a:ln w="9525">
            <a:solidFill>
              <a:srgbClr val="6FA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Трудозатраты неочевидны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28600" y="1783080"/>
            <a:ext cx="1173448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2148840" y="1783080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оценка т/з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70097" y="1828800"/>
            <a:ext cx="4930392" cy="219456"/>
          </a:xfrm>
          <a:prstGeom prst="roundRect">
            <a:avLst/>
          </a:prstGeom>
          <a:solidFill>
            <a:srgbClr val="FBEAB6"/>
          </a:solidFill>
          <a:ln w="9525">
            <a:solidFill>
              <a:srgbClr val="E0C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8 спринтов 2 ше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28600" y="2093976"/>
            <a:ext cx="1173448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148840" y="2093976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Рим — отпуск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06200" y="2139696"/>
            <a:ext cx="1202598" cy="219456"/>
          </a:xfrm>
          <a:prstGeom prst="roundRect">
            <a:avLst/>
          </a:prstGeom>
          <a:solidFill>
            <a:srgbClr val="FFF176"/>
          </a:solidFill>
          <a:ln w="9525">
            <a:solidFill>
              <a:srgbClr val="D4C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Отпуск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1161288"/>
            <a:ext cx="1920240" cy="124358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Интеграция с IDP (RAG)
(С. Славский ?)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818148" y="685800"/>
            <a:ext cx="0" cy="1719072"/>
          </a:xfrm>
          <a:prstGeom prst="line">
            <a:avLst/>
          </a:prstGeom>
          <a:ln w="22225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228600" y="2514600"/>
            <a:ext cx="13716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4CAF50"/>
                </a:solidFill>
              </a:rPr>
              <a:t>◆ выполнено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45920" y="2514600"/>
            <a:ext cx="13716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E53935"/>
                </a:solidFill>
              </a:rPr>
              <a:t>◇ план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63240" y="2514600"/>
            <a:ext cx="13716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F5A623"/>
                </a:solidFill>
              </a:rPr>
              <a:t>▬ работы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80560" y="2514600"/>
            <a:ext cx="13716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FBEAB6"/>
                </a:solidFill>
              </a:rPr>
              <a:t>▬ оценка т/з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97880" y="2514600"/>
            <a:ext cx="13716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FFF176"/>
                </a:solidFill>
              </a:rPr>
              <a:t>▬ отпуск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