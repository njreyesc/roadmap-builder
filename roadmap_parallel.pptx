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1800" b="1">
                <a:solidFill>
                  <a:srgbClr val="333333"/>
                </a:solidFill>
              </a:rPr>
              <a:t>Roadmap: подключение агентов (вариант — фичи параллельно)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3800" y="228600"/>
            <a:ext cx="4419295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1000" b="0">
                <a:solidFill>
                  <a:srgbClr val="4472C4"/>
                </a:solidFill>
              </a:rPr>
              <a:t>без ограничения капасити: у каждой фичи выделенные ресурсы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685800"/>
            <a:ext cx="1346148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Июль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232348" y="685800"/>
            <a:ext cx="2243580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Август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475928" y="685800"/>
            <a:ext cx="1794864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Сентябрь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270792" y="685800"/>
            <a:ext cx="1794864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Октябрь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65656" y="685800"/>
            <a:ext cx="897432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Ноябрь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941832"/>
            <a:ext cx="448716" cy="219456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13-19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916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20-26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83632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27-02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2348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03-09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81064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10-16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9780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17-23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8496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24-30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7212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31-06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5928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07-13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4644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14-20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73360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21-27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2076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28-04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0792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05-11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9508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12-18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68224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19-25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16940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26-01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65656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02-08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514372" y="941832"/>
            <a:ext cx="44871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09-15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86200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34916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783632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232348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81064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29780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78496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27212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75928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24644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73360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822076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70792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719508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168224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616940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065656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514372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963088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8600" y="1161288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148840" y="116128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06200" y="1207008"/>
            <a:ext cx="1754864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4 нед, 20 чд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28600" y="1472184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148840" y="147218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Разработка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01064" y="1517904"/>
            <a:ext cx="265229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нед, 30 чд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28600" y="1783080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148840" y="178308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93360" y="1828800"/>
            <a:ext cx="3549728" cy="219456"/>
          </a:xfrm>
          <a:prstGeom prst="roundRect">
            <a:avLst/>
          </a:prstGeom>
          <a:solidFill>
            <a:srgbClr val="E2D1F0"/>
          </a:solidFill>
          <a:ln w="9525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8 нед, 40 чд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28600" y="2093976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148840" y="209397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906200" y="2139696"/>
            <a:ext cx="857432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2 нед, 10 чд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" y="2404872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148840" y="240487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Разработка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03632" y="2450592"/>
            <a:ext cx="857432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2 нед, 10 чд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28600" y="2715768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48840" y="271576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01064" y="2761488"/>
            <a:ext cx="2652296" cy="219456"/>
          </a:xfrm>
          <a:prstGeom prst="roundRect">
            <a:avLst/>
          </a:prstGeom>
          <a:solidFill>
            <a:srgbClr val="E2D1F0"/>
          </a:solidFill>
          <a:ln w="9525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нед, 30 чд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28600" y="3026664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148840" y="302666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906200" y="3072384"/>
            <a:ext cx="1754864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4 нед, 20 чд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28600" y="3337560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148840" y="333756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Разработка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701064" y="3383280"/>
            <a:ext cx="265229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нед, 30 чд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28600" y="3648456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148840" y="364845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93360" y="3694176"/>
            <a:ext cx="3549728" cy="219456"/>
          </a:xfrm>
          <a:prstGeom prst="roundRect">
            <a:avLst/>
          </a:prstGeom>
          <a:solidFill>
            <a:srgbClr val="E2D1F0"/>
          </a:solidFill>
          <a:ln w="9525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8 нед, 40 чд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28600" y="3959352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148840" y="395935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906200" y="4005072"/>
            <a:ext cx="857432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2 нед, 10 чд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28600" y="4270248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2148840" y="427024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Разработка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03632" y="4315968"/>
            <a:ext cx="857432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2 нед, 10 чд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28600" y="4581144"/>
            <a:ext cx="1173448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2148840" y="458114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701064" y="4626864"/>
            <a:ext cx="2652296" cy="219456"/>
          </a:xfrm>
          <a:prstGeom prst="roundRect">
            <a:avLst/>
          </a:prstGeom>
          <a:solidFill>
            <a:srgbClr val="E2D1F0"/>
          </a:solidFill>
          <a:ln w="9525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нед, 30 чд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1161288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Подключение агента хронологии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600" y="2093976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Подключение ESG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3026664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Подключение агента историчность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3959352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Подключение АЕФ</a:t>
            </a:r>
          </a:p>
        </p:txBody>
      </p:sp>
      <p:sp>
        <p:nvSpPr>
          <p:cNvPr id="86" name="Diamond 85"/>
          <p:cNvSpPr/>
          <p:nvPr/>
        </p:nvSpPr>
        <p:spPr>
          <a:xfrm>
            <a:off x="3813048" y="1243584"/>
            <a:ext cx="146304" cy="146304"/>
          </a:xfrm>
          <a:prstGeom prst="diamond">
            <a:avLst/>
          </a:prstGeom>
          <a:solidFill>
            <a:srgbClr val="4472C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889936" y="1865376"/>
            <a:ext cx="146304" cy="146304"/>
          </a:xfrm>
          <a:prstGeom prst="diamond">
            <a:avLst/>
          </a:prstGeom>
          <a:solidFill>
            <a:srgbClr val="C00000"/>
          </a:solidFill>
          <a:ln w="1587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3813048" y="2176272"/>
            <a:ext cx="146304" cy="146304"/>
          </a:xfrm>
          <a:prstGeom prst="diamond">
            <a:avLst/>
          </a:prstGeom>
          <a:solidFill>
            <a:srgbClr val="4472C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9" name="Diamond 88"/>
          <p:cNvSpPr/>
          <p:nvPr/>
        </p:nvSpPr>
        <p:spPr>
          <a:xfrm>
            <a:off x="8300208" y="2798064"/>
            <a:ext cx="146304" cy="146304"/>
          </a:xfrm>
          <a:prstGeom prst="diamond">
            <a:avLst/>
          </a:prstGeom>
          <a:solidFill>
            <a:srgbClr val="C00000"/>
          </a:solidFill>
          <a:ln w="1587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3813048" y="3108960"/>
            <a:ext cx="146304" cy="146304"/>
          </a:xfrm>
          <a:prstGeom prst="diamond">
            <a:avLst/>
          </a:prstGeom>
          <a:solidFill>
            <a:srgbClr val="4472C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91" name="Diamond 90"/>
          <p:cNvSpPr/>
          <p:nvPr/>
        </p:nvSpPr>
        <p:spPr>
          <a:xfrm>
            <a:off x="11889936" y="3730752"/>
            <a:ext cx="146304" cy="146304"/>
          </a:xfrm>
          <a:prstGeom prst="diamond">
            <a:avLst/>
          </a:prstGeom>
          <a:solidFill>
            <a:srgbClr val="C00000"/>
          </a:solidFill>
          <a:ln w="1587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92" name="Diamond 91"/>
          <p:cNvSpPr/>
          <p:nvPr/>
        </p:nvSpPr>
        <p:spPr>
          <a:xfrm>
            <a:off x="3813048" y="4041648"/>
            <a:ext cx="146304" cy="146304"/>
          </a:xfrm>
          <a:prstGeom prst="diamond">
            <a:avLst/>
          </a:prstGeom>
          <a:solidFill>
            <a:srgbClr val="4472C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93" name="Diamond 92"/>
          <p:cNvSpPr/>
          <p:nvPr/>
        </p:nvSpPr>
        <p:spPr>
          <a:xfrm>
            <a:off x="8300208" y="4663440"/>
            <a:ext cx="146304" cy="146304"/>
          </a:xfrm>
          <a:prstGeom prst="diamond">
            <a:avLst/>
          </a:prstGeom>
          <a:solidFill>
            <a:srgbClr val="C00000"/>
          </a:solidFill>
          <a:ln w="1587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4110558" y="1161288"/>
            <a:ext cx="0" cy="3730752"/>
          </a:xfrm>
          <a:prstGeom prst="line">
            <a:avLst/>
          </a:prstGeom>
          <a:ln w="2222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886200" y="685800"/>
            <a:ext cx="0" cy="420624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3886200" y="685800"/>
            <a:ext cx="566928" cy="256032"/>
          </a:xfrm>
          <a:prstGeom prst="rect">
            <a:avLst/>
          </a:prstGeom>
          <a:solidFill>
            <a:srgbClr val="4472C4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1">
                <a:solidFill>
                  <a:srgbClr val="FFFFFF"/>
                </a:solidFill>
              </a:rPr>
              <a:t>⚑ Старт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1963088" y="685800"/>
            <a:ext cx="0" cy="4206240"/>
          </a:xfrm>
          <a:prstGeom prst="line">
            <a:avLst/>
          </a:prstGeom>
          <a:ln w="19050">
            <a:solidFill>
              <a:srgbClr val="7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1396160" y="685800"/>
            <a:ext cx="566928" cy="256032"/>
          </a:xfrm>
          <a:prstGeom prst="rect">
            <a:avLst/>
          </a:prstGeom>
          <a:solidFill>
            <a:srgbClr val="C00000"/>
          </a:solidFill>
          <a:ln w="952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800" b="1">
                <a:solidFill>
                  <a:srgbClr val="FFFFFF"/>
                </a:solidFill>
              </a:rPr>
              <a:t>Финиш ⚑</a:t>
            </a:r>
          </a:p>
        </p:txBody>
      </p:sp>
      <p:sp>
        <p:nvSpPr>
          <p:cNvPr id="99" name="Diamond 98"/>
          <p:cNvSpPr/>
          <p:nvPr/>
        </p:nvSpPr>
        <p:spPr>
          <a:xfrm>
            <a:off x="228600" y="5042916"/>
            <a:ext cx="118872" cy="118872"/>
          </a:xfrm>
          <a:prstGeom prst="diamond">
            <a:avLst/>
          </a:prstGeom>
          <a:solidFill>
            <a:srgbClr val="4CAF5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74904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выполнено</a:t>
            </a:r>
          </a:p>
        </p:txBody>
      </p:sp>
      <p:sp>
        <p:nvSpPr>
          <p:cNvPr id="101" name="Diamond 100"/>
          <p:cNvSpPr/>
          <p:nvPr/>
        </p:nvSpPr>
        <p:spPr>
          <a:xfrm>
            <a:off x="1280160" y="5042916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26464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план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331720" y="5042916"/>
            <a:ext cx="219456" cy="118872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578608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работы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483864" y="5042916"/>
            <a:ext cx="219456" cy="118872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730752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636008" y="5042916"/>
            <a:ext cx="219456" cy="118872"/>
          </a:xfrm>
          <a:prstGeom prst="roundRect">
            <a:avLst/>
          </a:prstGeom>
          <a:solidFill>
            <a:srgbClr val="E2D1F0"/>
          </a:solidFill>
          <a:ln w="12700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882896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788152" y="5042916"/>
            <a:ext cx="219456" cy="118872"/>
          </a:xfrm>
          <a:prstGeom prst="roundRect">
            <a:avLst/>
          </a:prstGeom>
          <a:solidFill>
            <a:srgbClr val="FBEAB6"/>
          </a:solidFill>
          <a:ln w="12700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035040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оценка т/з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940296" y="5042916"/>
            <a:ext cx="219456" cy="118872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4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187184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отпуск</a:t>
            </a:r>
          </a:p>
        </p:txBody>
      </p:sp>
      <p:sp>
        <p:nvSpPr>
          <p:cNvPr id="113" name="Pentagon 112"/>
          <p:cNvSpPr/>
          <p:nvPr/>
        </p:nvSpPr>
        <p:spPr>
          <a:xfrm>
            <a:off x="8092440" y="5042916"/>
            <a:ext cx="219456" cy="118872"/>
          </a:xfrm>
          <a:prstGeom prst="homePlate">
            <a:avLst/>
          </a:prstGeom>
          <a:solidFill>
            <a:srgbClr val="4472C4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339328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старт</a:t>
            </a:r>
          </a:p>
        </p:txBody>
      </p:sp>
      <p:sp>
        <p:nvSpPr>
          <p:cNvPr id="115" name="Pentagon 114"/>
          <p:cNvSpPr/>
          <p:nvPr/>
        </p:nvSpPr>
        <p:spPr>
          <a:xfrm>
            <a:off x="9244584" y="5042916"/>
            <a:ext cx="219456" cy="118872"/>
          </a:xfrm>
          <a:prstGeom prst="homePlate">
            <a:avLst/>
          </a:prstGeom>
          <a:solidFill>
            <a:srgbClr val="C00000"/>
          </a:solidFill>
          <a:ln w="12700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491472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финиш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